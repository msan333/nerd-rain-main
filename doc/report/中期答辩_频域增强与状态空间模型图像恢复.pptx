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01"/>
  </p:normalViewPr>
  <p:slideViewPr>
    <p:cSldViewPr snapToGrid="0" snapToObjects="1">
      <p:cViewPr varScale="1">
        <p:scale>
          <a:sx n="110" d="100"/>
          <a:sy n="110" d="100"/>
        </p:scale>
        <p:origin x="65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412480" y="4389120"/>
            <a:ext cx="3840480" cy="2468880"/>
          </a:xfrm>
          <a:prstGeom prst="rect">
            <a:avLst/>
          </a:prstGeom>
          <a:solidFill>
            <a:srgbClr val="2C3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692640" y="5394960"/>
            <a:ext cx="2560320" cy="1463040"/>
          </a:xfrm>
          <a:prstGeom prst="rect">
            <a:avLst/>
          </a:prstGeom>
          <a:solidFill>
            <a:srgbClr val="1E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05156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700" b="1" i="0">
                <a:solidFill>
                  <a:srgbClr val="D6ECEC"/>
                </a:solidFill>
                <a:latin typeface="PingFang SC"/>
                <a:ea typeface="PingFang SC"/>
              </a:rPr>
              <a:t>硕士研究生论文 · 中期进展报告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1600200"/>
            <a:ext cx="2377440" cy="32004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1033272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PingFang SC"/>
                <a:ea typeface="PingFang SC"/>
              </a:rPr>
              <a:t>基于频域增强与状态空间模型的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1033272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PingFang SC"/>
                <a:ea typeface="PingFang SC"/>
              </a:rPr>
              <a:t>图像恢复方法研究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600" b="0" i="0">
                <a:solidFill>
                  <a:srgbClr val="E8EEF7"/>
                </a:solidFill>
                <a:latin typeface="PingFang SC"/>
                <a:ea typeface="PingFang SC"/>
              </a:rPr>
              <a:t>频域增强方法论  +  高效架构实践  —— 面向图像去雨与图像超分辨率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23560"/>
            <a:ext cx="7315200" cy="9144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0">
                <a:solidFill>
                  <a:srgbClr val="D6ECEC"/>
                </a:solidFill>
                <a:latin typeface="PingFang SC"/>
                <a:ea typeface="PingFang SC"/>
              </a:rPr>
              <a:t>汇报人：[姓名]        指导教师：[导师姓名]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D6ECEC"/>
                </a:solidFill>
                <a:latin typeface="PingFang SC"/>
                <a:ea typeface="PingFang SC"/>
              </a:rPr>
              <a:t>2026 年 7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09728" cy="786384"/>
          </a:xfrm>
          <a:prstGeom prst="rect">
            <a:avLst/>
          </a:prstGeom>
          <a:solidFill>
            <a:srgbClr val="1E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30352"/>
            <a:ext cx="106070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300" b="1" i="0">
                <a:solidFill>
                  <a:srgbClr val="1E8A8C"/>
                </a:solidFill>
                <a:latin typeface="PingFang SC"/>
                <a:ea typeface="PingFang SC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22960"/>
            <a:ext cx="1078992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2700" b="1" i="0">
                <a:solidFill>
                  <a:srgbClr val="1E2A52"/>
                </a:solidFill>
                <a:latin typeface="PingFang SC"/>
                <a:ea typeface="PingFang SC"/>
              </a:rPr>
              <a:t>汇报提纲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52760" cy="18288"/>
          </a:xfrm>
          <a:prstGeom prst="rect">
            <a:avLst/>
          </a:prstGeom>
          <a:solidFill>
            <a:srgbClr val="D3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52578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984248"/>
            <a:ext cx="91440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3400" b="1" i="0">
                <a:solidFill>
                  <a:srgbClr val="1E8A8C"/>
                </a:solidFill>
                <a:latin typeface="PingFang SC"/>
                <a:ea typeface="PingFang SC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7400" y="2039112"/>
            <a:ext cx="18288" cy="786384"/>
          </a:xfrm>
          <a:prstGeom prst="rect">
            <a:avLst/>
          </a:prstGeom>
          <a:solidFill>
            <a:srgbClr val="D3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40280" y="2039112"/>
            <a:ext cx="37033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700" b="1" i="0">
                <a:solidFill>
                  <a:srgbClr val="1E2A52"/>
                </a:solidFill>
                <a:latin typeface="PingFang SC"/>
                <a:ea typeface="PingFang SC"/>
              </a:rPr>
              <a:t>研究背景与统一科学问题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532888"/>
            <a:ext cx="370332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250" b="0" i="0">
                <a:solidFill>
                  <a:srgbClr val="666E82"/>
                </a:solidFill>
                <a:latin typeface="PingFang SC"/>
                <a:ea typeface="PingFang SC"/>
              </a:rPr>
              <a:t>退化图像高频细节恢复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783080"/>
            <a:ext cx="52578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01968" y="1984248"/>
            <a:ext cx="91440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3400" b="1" i="0">
                <a:solidFill>
                  <a:srgbClr val="1E8A8C"/>
                </a:solidFill>
                <a:latin typeface="PingFang SC"/>
                <a:ea typeface="PingFang SC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2039112"/>
            <a:ext cx="18288" cy="786384"/>
          </a:xfrm>
          <a:prstGeom prst="rect">
            <a:avLst/>
          </a:prstGeom>
          <a:solidFill>
            <a:srgbClr val="D3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18120" y="2039112"/>
            <a:ext cx="37033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700" b="1" i="0">
                <a:solidFill>
                  <a:srgbClr val="1E2A52"/>
                </a:solidFill>
                <a:latin typeface="PingFang SC"/>
                <a:ea typeface="PingFang SC"/>
              </a:rPr>
              <a:t>整体研究框架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532888"/>
            <a:ext cx="370332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250" b="0" i="0">
                <a:solidFill>
                  <a:srgbClr val="666E82"/>
                </a:solidFill>
                <a:latin typeface="PingFang SC"/>
                <a:ea typeface="PingFang SC"/>
              </a:rPr>
              <a:t>方法论 + 架构双课题闭环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337560"/>
            <a:ext cx="52578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4128" y="3538728"/>
            <a:ext cx="91440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3400" b="1" i="0">
                <a:solidFill>
                  <a:srgbClr val="1E8A8C"/>
                </a:solidFill>
                <a:latin typeface="PingFang SC"/>
                <a:ea typeface="PingFang SC"/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57400" y="3593591"/>
            <a:ext cx="18288" cy="786384"/>
          </a:xfrm>
          <a:prstGeom prst="rect">
            <a:avLst/>
          </a:prstGeom>
          <a:solidFill>
            <a:srgbClr val="D3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240280" y="3593591"/>
            <a:ext cx="37033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700" b="1" i="0">
                <a:solidFill>
                  <a:srgbClr val="1E2A52"/>
                </a:solidFill>
                <a:latin typeface="PingFang SC"/>
                <a:ea typeface="PingFang SC"/>
              </a:rPr>
              <a:t>课题一 · 频域增强图像去雨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4087368"/>
            <a:ext cx="370332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250" b="0" i="0">
                <a:solidFill>
                  <a:srgbClr val="666E82"/>
                </a:solidFill>
                <a:latin typeface="PingFang SC"/>
                <a:ea typeface="PingFang SC"/>
              </a:rPr>
              <a:t>RFM / MFGCP / HAFL 三创新点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337560"/>
            <a:ext cx="52578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01968" y="3538728"/>
            <a:ext cx="91440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3400" b="1" i="0">
                <a:solidFill>
                  <a:srgbClr val="1E8A8C"/>
                </a:solidFill>
                <a:latin typeface="PingFang SC"/>
                <a:ea typeface="PingFang SC"/>
              </a:rPr>
              <a:t>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35240" y="3593591"/>
            <a:ext cx="18288" cy="786384"/>
          </a:xfrm>
          <a:prstGeom prst="rect">
            <a:avLst/>
          </a:prstGeom>
          <a:solidFill>
            <a:srgbClr val="D3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18120" y="3593591"/>
            <a:ext cx="37033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700" b="1" i="0">
                <a:solidFill>
                  <a:srgbClr val="1E2A52"/>
                </a:solidFill>
                <a:latin typeface="PingFang SC"/>
                <a:ea typeface="PingFang SC"/>
              </a:rPr>
              <a:t>课题二 · 状态空间模型超分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4087368"/>
            <a:ext cx="370332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250" b="0" i="0">
                <a:solidFill>
                  <a:srgbClr val="666E82"/>
                </a:solidFill>
                <a:latin typeface="PingFang SC"/>
                <a:ea typeface="PingFang SC"/>
              </a:rPr>
              <a:t>MFA / SSDPS / DSTA 三创新点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4892040"/>
            <a:ext cx="52578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4128" y="5093207"/>
            <a:ext cx="91440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3400" b="1" i="0">
                <a:solidFill>
                  <a:srgbClr val="1E8A8C"/>
                </a:solidFill>
                <a:latin typeface="PingFang SC"/>
                <a:ea typeface="PingFang SC"/>
              </a:rPr>
              <a:t>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57400" y="5148072"/>
            <a:ext cx="18288" cy="786384"/>
          </a:xfrm>
          <a:prstGeom prst="rect">
            <a:avLst/>
          </a:prstGeom>
          <a:solidFill>
            <a:srgbClr val="D3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240280" y="5148072"/>
            <a:ext cx="37033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700" b="1" i="0">
                <a:solidFill>
                  <a:srgbClr val="1E2A52"/>
                </a:solidFill>
                <a:latin typeface="PingFang SC"/>
                <a:ea typeface="PingFang SC"/>
              </a:rPr>
              <a:t>工程实践与消融实验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5641848"/>
            <a:ext cx="370332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250" b="0" i="0">
                <a:solidFill>
                  <a:srgbClr val="666E82"/>
                </a:solidFill>
                <a:latin typeface="PingFang SC"/>
                <a:ea typeface="PingFang SC"/>
              </a:rPr>
              <a:t>分布式训练与结果验证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4892040"/>
            <a:ext cx="52578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01968" y="5093207"/>
            <a:ext cx="91440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3400" b="1" i="0">
                <a:solidFill>
                  <a:srgbClr val="1E8A8C"/>
                </a:solidFill>
                <a:latin typeface="PingFang SC"/>
                <a:ea typeface="PingFang SC"/>
              </a:rPr>
              <a:t>06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35240" y="5148072"/>
            <a:ext cx="18288" cy="786384"/>
          </a:xfrm>
          <a:prstGeom prst="rect">
            <a:avLst/>
          </a:prstGeom>
          <a:solidFill>
            <a:srgbClr val="D3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818120" y="5148072"/>
            <a:ext cx="37033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700" b="1" i="0">
                <a:solidFill>
                  <a:srgbClr val="1E2A52"/>
                </a:solidFill>
                <a:latin typeface="PingFang SC"/>
                <a:ea typeface="PingFang SC"/>
              </a:rPr>
              <a:t>下一步工作计划与总结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5641848"/>
            <a:ext cx="370332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250" b="0" i="0">
                <a:solidFill>
                  <a:srgbClr val="666E82"/>
                </a:solidFill>
                <a:latin typeface="PingFang SC"/>
                <a:ea typeface="PingFang SC"/>
              </a:rPr>
              <a:t>时间表与研究贡献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900" b="0" i="0">
                <a:solidFill>
                  <a:srgbClr val="666E82"/>
                </a:solidFill>
                <a:latin typeface="PingFang SC"/>
                <a:ea typeface="PingFang SC"/>
              </a:rPr>
              <a:t>基于频域增强与状态空间模型的图像恢复方法研究  ·  硕士研究生论文中期进展报告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r"/>
            <a:r>
              <a:rPr sz="1000" b="1" i="0">
                <a:solidFill>
                  <a:srgbClr val="1E8A8C"/>
                </a:solidFill>
                <a:latin typeface="PingFang SC"/>
                <a:ea typeface="PingFang S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09728" cy="786384"/>
          </a:xfrm>
          <a:prstGeom prst="rect">
            <a:avLst/>
          </a:prstGeom>
          <a:solidFill>
            <a:srgbClr val="1E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30352"/>
            <a:ext cx="106070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300" b="1" i="0">
                <a:solidFill>
                  <a:srgbClr val="1E8A8C"/>
                </a:solidFill>
                <a:latin typeface="PingFang SC"/>
                <a:ea typeface="PingFang SC"/>
              </a:rPr>
              <a:t>01  研究背景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22960"/>
            <a:ext cx="1078992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2700" b="1" i="0">
                <a:solidFill>
                  <a:srgbClr val="1E2A52"/>
                </a:solidFill>
                <a:latin typeface="PingFang SC"/>
                <a:ea typeface="PingFang SC"/>
              </a:rPr>
              <a:t>统一科学问题：退化图像的高频细节恢复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52760" cy="18288"/>
          </a:xfrm>
          <a:prstGeom prst="rect">
            <a:avLst/>
          </a:prstGeom>
          <a:solidFill>
            <a:srgbClr val="D3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5943600" cy="201168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450" b="0">
                <a:solidFill>
                  <a:srgbClr val="1A1F36"/>
                </a:solidFill>
                <a:latin typeface="PingFang SC"/>
                <a:ea typeface="PingFang SC"/>
              </a:rPr>
              <a:t>图像恢复（Image Restoration）旨在从退化观测中重建清晰、高质量的场景内容，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50" b="0">
                <a:solidFill>
                  <a:srgbClr val="1A1F36"/>
                </a:solidFill>
                <a:latin typeface="PingFang SC"/>
                <a:ea typeface="PingFang SC"/>
              </a:rPr>
              <a:t>是计算机视觉中的基础低层视觉任务。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50" b="0">
                <a:solidFill>
                  <a:srgbClr val="1A1F36"/>
                </a:solidFill>
                <a:latin typeface="PingFang SC"/>
                <a:ea typeface="PingFang SC"/>
              </a:rPr>
              <a:t>去雨与超分辨率虽退化类型不同，却共享同一根本问题——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50" b="1">
                <a:solidFill>
                  <a:srgbClr val="1E8A8C"/>
                </a:solidFill>
                <a:latin typeface="PingFang SC"/>
                <a:ea typeface="PingFang SC"/>
              </a:rPr>
              <a:t>如何有效恢复高频细节与结构信息。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03320"/>
            <a:ext cx="5669280" cy="1051560"/>
          </a:xfrm>
          <a:prstGeom prst="roundRect">
            <a:avLst/>
          </a:prstGeom>
          <a:solidFill>
            <a:srgbClr val="E8EEF7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3840480"/>
            <a:ext cx="27432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250" b="1" i="0">
                <a:solidFill>
                  <a:srgbClr val="2C3E74"/>
                </a:solidFill>
                <a:latin typeface="PingFang SC"/>
                <a:ea typeface="PingFang SC"/>
              </a:rPr>
              <a:t>去雨退化模型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160520"/>
            <a:ext cx="365760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2600" b="1" i="1">
                <a:solidFill>
                  <a:srgbClr val="1E2A52"/>
                </a:solidFill>
                <a:latin typeface="PingFang SC"/>
                <a:ea typeface="PingFang SC"/>
              </a:rPr>
              <a:t>y = x + 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4279392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150" b="0" i="0">
                <a:solidFill>
                  <a:srgbClr val="666E82"/>
                </a:solidFill>
                <a:latin typeface="PingFang SC"/>
                <a:ea typeface="PingFang SC"/>
              </a:rPr>
              <a:t>y 观测雨图 · x 清晰图 · r 雨纹层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98348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E08A2B"/>
                </a:solidFill>
                <a:latin typeface="PingFang SC"/>
                <a:ea typeface="PingFang SC"/>
              </a:rPr>
              <a:t>现有方法的两大不足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321808"/>
            <a:ext cx="5760720" cy="9144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>
                <a:solidFill>
                  <a:srgbClr val="1A1F36"/>
                </a:solidFill>
                <a:latin typeface="PingFang SC"/>
                <a:ea typeface="PingFang SC"/>
              </a:rPr>
              <a:t>· 多在空间域提取特征，对雨纹频域的周期性 / 方向性先验利用不足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A1F36"/>
                </a:solidFill>
                <a:latin typeface="PingFang SC"/>
                <a:ea typeface="PingFang SC"/>
              </a:rPr>
              <a:t>· SSM 空间序列化扫描，对高频纹理细节捕获能力有限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1783080"/>
            <a:ext cx="43434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8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60920" y="1965960"/>
            <a:ext cx="384048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600" b="1" i="0">
                <a:solidFill>
                  <a:srgbClr val="1E8A8C"/>
                </a:solidFill>
                <a:latin typeface="PingFang SC"/>
                <a:ea typeface="PingFang SC"/>
              </a:rPr>
              <a:t>课题一 · 图像去雨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2395728"/>
            <a:ext cx="3840480" cy="1371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>
                <a:solidFill>
                  <a:srgbClr val="1A1F36"/>
                </a:solidFill>
                <a:latin typeface="PingFang SC"/>
                <a:ea typeface="PingFang SC"/>
              </a:rPr>
              <a:t>消除雨纹遮挡，恢复被干扰的场景信息。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E2A52"/>
                </a:solidFill>
                <a:latin typeface="PingFang SC"/>
                <a:ea typeface="PingFang SC"/>
              </a:rPr>
              <a:t>切入点：频域增强方法论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3246120"/>
            <a:ext cx="384048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150" b="0" i="0">
                <a:solidFill>
                  <a:srgbClr val="666E82"/>
                </a:solidFill>
                <a:latin typeface="PingFang SC"/>
                <a:ea typeface="PingFang SC"/>
              </a:rPr>
              <a:t>频域周期性与方向性先验尚未被系统利用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86600" y="4114800"/>
            <a:ext cx="43434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60920" y="4297680"/>
            <a:ext cx="384048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600" b="1" i="0">
                <a:solidFill>
                  <a:srgbClr val="2C3E74"/>
                </a:solidFill>
                <a:latin typeface="PingFang SC"/>
                <a:ea typeface="PingFang SC"/>
              </a:rPr>
              <a:t>课题二 · 图像超分辨率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4727448"/>
            <a:ext cx="3840480" cy="1371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>
                <a:solidFill>
                  <a:srgbClr val="1A1F36"/>
                </a:solidFill>
                <a:latin typeface="PingFang SC"/>
                <a:ea typeface="PingFang SC"/>
              </a:rPr>
              <a:t>从低分辨率图重建高频细节，提升空间分辨率。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E2A52"/>
                </a:solidFill>
                <a:latin typeface="PingFang SC"/>
                <a:ea typeface="PingFang SC"/>
              </a:rPr>
              <a:t>切入点：高效架构（SSM）实践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5577840"/>
            <a:ext cx="384048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150" b="0" i="0">
                <a:solidFill>
                  <a:srgbClr val="666E82"/>
                </a:solidFill>
                <a:latin typeface="PingFang SC"/>
                <a:ea typeface="PingFang SC"/>
              </a:rPr>
              <a:t>线性复杂度全局建模，但高频捕获仍有局限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900" b="0" i="0">
                <a:solidFill>
                  <a:srgbClr val="666E82"/>
                </a:solidFill>
                <a:latin typeface="PingFang SC"/>
                <a:ea typeface="PingFang SC"/>
              </a:rPr>
              <a:t>基于频域增强与状态空间模型的图像恢复方法研究  ·  硕士研究生论文中期进展报告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r"/>
            <a:r>
              <a:rPr sz="1000" b="1" i="0">
                <a:solidFill>
                  <a:srgbClr val="1E8A8C"/>
                </a:solidFill>
                <a:latin typeface="PingFang SC"/>
                <a:ea typeface="PingFang S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09728" cy="786384"/>
          </a:xfrm>
          <a:prstGeom prst="rect">
            <a:avLst/>
          </a:prstGeom>
          <a:solidFill>
            <a:srgbClr val="1E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30352"/>
            <a:ext cx="106070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300" b="1" i="0">
                <a:solidFill>
                  <a:srgbClr val="1E8A8C"/>
                </a:solidFill>
                <a:latin typeface="PingFang SC"/>
                <a:ea typeface="PingFang SC"/>
              </a:rPr>
              <a:t>02  研究框架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22960"/>
            <a:ext cx="1078992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2700" b="1" i="0">
                <a:solidFill>
                  <a:srgbClr val="1E2A52"/>
                </a:solidFill>
                <a:latin typeface="PingFang SC"/>
                <a:ea typeface="PingFang SC"/>
              </a:rPr>
              <a:t>一条主线贯穿：频域信息在图像恢复中的系统性利用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52760" cy="18288"/>
          </a:xfrm>
          <a:prstGeom prst="rect">
            <a:avLst/>
          </a:prstGeom>
          <a:solidFill>
            <a:srgbClr val="D3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3154680"/>
            <a:ext cx="10332720" cy="502920"/>
          </a:xfrm>
          <a:prstGeom prst="roundRect">
            <a:avLst/>
          </a:prstGeom>
          <a:solidFill>
            <a:srgbClr val="1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103327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PingFang SC"/>
                <a:ea typeface="PingFang SC"/>
              </a:rPr>
              <a:t>统一研究主线：频域信息的系统性利用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783080"/>
            <a:ext cx="4937760" cy="1143000"/>
          </a:xfrm>
          <a:prstGeom prst="roundRect">
            <a:avLst/>
          </a:prstGeom>
          <a:solidFill>
            <a:srgbClr val="D6ECEC"/>
          </a:solidFill>
          <a:ln w="19050">
            <a:solidFill>
              <a:srgbClr val="1E8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1901952"/>
            <a:ext cx="45720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500" b="1" i="0">
                <a:solidFill>
                  <a:srgbClr val="1E8A8C"/>
                </a:solidFill>
                <a:latin typeface="PingFang SC"/>
                <a:ea typeface="PingFang SC"/>
              </a:rPr>
              <a:t>课题一：频域增强方法论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286000"/>
            <a:ext cx="4526280" cy="5943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F36"/>
                </a:solidFill>
                <a:latin typeface="PingFang SC"/>
                <a:ea typeface="PingFang SC"/>
              </a:rPr>
              <a:t>在去雨任务中构建「模型结构 + 训练策略」全链路频域增强框架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83080"/>
            <a:ext cx="4937760" cy="1143000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C3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901952"/>
            <a:ext cx="45720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500" b="1" i="0">
                <a:solidFill>
                  <a:srgbClr val="2C3E74"/>
                </a:solidFill>
                <a:latin typeface="PingFang SC"/>
                <a:ea typeface="PingFang SC"/>
              </a:rPr>
              <a:t>课题二：高效架构实践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286000"/>
            <a:ext cx="4526280" cy="5943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F36"/>
                </a:solidFill>
                <a:latin typeface="PingFang SC"/>
                <a:ea typeface="PingFang SC"/>
              </a:rPr>
              <a:t>在 SSM 架构约束下提升频域感知能力，迁移课题一的频域增强经验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94760"/>
            <a:ext cx="103327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300" b="1" i="0">
                <a:solidFill>
                  <a:srgbClr val="E08A2B"/>
                </a:solidFill>
                <a:latin typeface="PingFang SC"/>
                <a:ea typeface="PingFang SC"/>
              </a:rPr>
              <a:t>理论方法  →  架构实践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343400"/>
            <a:ext cx="15544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8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52628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400" b="1" i="0">
                <a:solidFill>
                  <a:srgbClr val="1E8A8C"/>
                </a:solidFill>
                <a:latin typeface="PingFang SC"/>
                <a:ea typeface="PingFang SC"/>
              </a:rPr>
              <a:t>RFM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965192"/>
            <a:ext cx="146304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F36"/>
                </a:solidFill>
                <a:latin typeface="PingFang SC"/>
                <a:ea typeface="PingFang SC"/>
              </a:rPr>
              <a:t>残差频域模块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87752" y="4343400"/>
            <a:ext cx="15544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8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87752" y="452628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400" b="1" i="0">
                <a:solidFill>
                  <a:srgbClr val="1E8A8C"/>
                </a:solidFill>
                <a:latin typeface="PingFang SC"/>
                <a:ea typeface="PingFang SC"/>
              </a:rPr>
              <a:t>MFGCP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33472" y="4965192"/>
            <a:ext cx="146304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F36"/>
                </a:solidFill>
                <a:latin typeface="PingFang SC"/>
                <a:ea typeface="PingFang SC"/>
              </a:rPr>
              <a:t>频域-梯度协同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61104" y="4343400"/>
            <a:ext cx="15544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8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61104" y="452628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400" b="1" i="0">
                <a:solidFill>
                  <a:srgbClr val="1E8A8C"/>
                </a:solidFill>
                <a:latin typeface="PingFang SC"/>
                <a:ea typeface="PingFang SC"/>
              </a:rPr>
              <a:t>HAFL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6824" y="4965192"/>
            <a:ext cx="146304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F36"/>
                </a:solidFill>
                <a:latin typeface="PingFang SC"/>
                <a:ea typeface="PingFang SC"/>
              </a:rPr>
              <a:t>分层频域损失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343400"/>
            <a:ext cx="15544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C3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9360" y="452628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300" b="1" i="0">
                <a:solidFill>
                  <a:srgbClr val="2C3E74"/>
                </a:solidFill>
                <a:latin typeface="PingFang SC"/>
                <a:ea typeface="PingFang SC"/>
              </a:rPr>
              <a:t>MFA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965192"/>
            <a:ext cx="146304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F36"/>
                </a:solidFill>
                <a:latin typeface="PingFang SC"/>
                <a:ea typeface="PingFang SC"/>
              </a:rPr>
              <a:t>多尺度频域感知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82712" y="4343400"/>
            <a:ext cx="15544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C3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82712" y="452628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300" b="1" i="0">
                <a:solidFill>
                  <a:srgbClr val="2C3E74"/>
                </a:solidFill>
                <a:latin typeface="PingFang SC"/>
                <a:ea typeface="PingFang SC"/>
              </a:rPr>
              <a:t>SSDPS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28432" y="4965192"/>
            <a:ext cx="146304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F36"/>
                </a:solidFill>
                <a:latin typeface="PingFang SC"/>
                <a:ea typeface="PingFang SC"/>
              </a:rPr>
              <a:t>语义-空间双路径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56064" y="4343400"/>
            <a:ext cx="15544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C3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56064" y="452628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300" b="1" i="0">
                <a:solidFill>
                  <a:srgbClr val="2C3E74"/>
                </a:solidFill>
                <a:latin typeface="PingFang SC"/>
                <a:ea typeface="PingFang SC"/>
              </a:rPr>
              <a:t>DSTA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01784" y="4965192"/>
            <a:ext cx="146304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F36"/>
                </a:solidFill>
                <a:latin typeface="PingFang SC"/>
                <a:ea typeface="PingFang SC"/>
              </a:rPr>
              <a:t>选择性Token聚合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715000"/>
            <a:ext cx="49377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050" b="0" i="0">
                <a:solidFill>
                  <a:srgbClr val="2E8B57"/>
                </a:solidFill>
                <a:latin typeface="PingFang SC"/>
                <a:ea typeface="PingFang SC"/>
              </a:rPr>
              <a:t>已完成 / 训练中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5715000"/>
            <a:ext cx="49377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050" b="0" i="0">
                <a:solidFill>
                  <a:srgbClr val="E08A2B"/>
                </a:solidFill>
                <a:latin typeface="PingFang SC"/>
                <a:ea typeface="PingFang SC"/>
              </a:rPr>
              <a:t>MFA/DSTA 已验证 · SSDPS 推进中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900" b="0" i="0">
                <a:solidFill>
                  <a:srgbClr val="666E82"/>
                </a:solidFill>
                <a:latin typeface="PingFang SC"/>
                <a:ea typeface="PingFang SC"/>
              </a:rPr>
              <a:t>基于频域增强与状态空间模型的图像恢复方法研究  ·  硕士研究生论文中期进展报告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r"/>
            <a:r>
              <a:rPr sz="1000" b="1" i="0">
                <a:solidFill>
                  <a:srgbClr val="1E8A8C"/>
                </a:solidFill>
                <a:latin typeface="PingFang SC"/>
                <a:ea typeface="PingFang S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09728" cy="786384"/>
          </a:xfrm>
          <a:prstGeom prst="rect">
            <a:avLst/>
          </a:prstGeom>
          <a:solidFill>
            <a:srgbClr val="1E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30352"/>
            <a:ext cx="106070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300" b="1" i="0">
                <a:solidFill>
                  <a:srgbClr val="1E8A8C"/>
                </a:solidFill>
                <a:latin typeface="PingFang SC"/>
                <a:ea typeface="PingFang SC"/>
              </a:rPr>
              <a:t>03  课题一 · 图像去雨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22960"/>
            <a:ext cx="1078992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2700" b="1" i="0">
                <a:solidFill>
                  <a:srgbClr val="1E2A52"/>
                </a:solidFill>
                <a:latin typeface="PingFang SC"/>
                <a:ea typeface="PingFang SC"/>
              </a:rPr>
              <a:t>基线 NeRD-Rain 与三个关键研究痛点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52760" cy="18288"/>
          </a:xfrm>
          <a:prstGeom prst="rect">
            <a:avLst/>
          </a:prstGeom>
          <a:solidFill>
            <a:srgbClr val="D3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3200400" cy="4160520"/>
          </a:xfrm>
          <a:prstGeom prst="roundRect">
            <a:avLst/>
          </a:prstGeom>
          <a:solidFill>
            <a:srgbClr val="1E2A52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011680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300" b="1" i="0">
                <a:solidFill>
                  <a:srgbClr val="D6ECEC"/>
                </a:solidFill>
                <a:latin typeface="PingFang SC"/>
                <a:ea typeface="PingFang SC"/>
              </a:rPr>
              <a:t>基线模型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77440"/>
            <a:ext cx="283464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PingFang SC"/>
                <a:ea typeface="PingFang SC"/>
              </a:rPr>
              <a:t>NeRD-Rain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852928"/>
            <a:ext cx="27432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200" b="0" i="0">
                <a:solidFill>
                  <a:srgbClr val="E8EEF7"/>
                </a:solidFill>
                <a:latin typeface="PingFang SC"/>
                <a:ea typeface="PingFang SC"/>
              </a:rPr>
              <a:t>CVPR 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383280"/>
            <a:ext cx="2788920" cy="22860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>
                <a:solidFill>
                  <a:srgbClr val="E8EEF7"/>
                </a:solidFill>
                <a:latin typeface="PingFang SC"/>
                <a:ea typeface="PingFang SC"/>
              </a:rPr>
              <a:t>· 首次将双向多尺度隐式神经表示（INR）引入去雨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>
                <a:solidFill>
                  <a:srgbClr val="E8EEF7"/>
                </a:solidFill>
                <a:latin typeface="PingFang SC"/>
                <a:ea typeface="PingFang SC"/>
              </a:rPr>
              <a:t>· 多基准数据集当时最优性能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E8EEF7"/>
                </a:solidFill>
                <a:latin typeface="PingFang SC"/>
                <a:ea typeface="PingFang SC"/>
              </a:rPr>
              <a:t>· 参数量约 25.6M，便于插入频域增强模块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783080"/>
            <a:ext cx="69494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53712" y="2075688"/>
            <a:ext cx="502920" cy="502920"/>
          </a:xfrm>
          <a:prstGeom prst="round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53712" y="2075688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1984248"/>
            <a:ext cx="576072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600" b="1" i="0">
                <a:solidFill>
                  <a:srgbClr val="1E2A52"/>
                </a:solidFill>
                <a:latin typeface="PingFang SC"/>
                <a:ea typeface="PingFang SC"/>
              </a:rPr>
              <a:t>痛点 1  ·  忽视频域分布规律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441448"/>
            <a:ext cx="580644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66E82"/>
                </a:solidFill>
                <a:latin typeface="PingFang SC"/>
                <a:ea typeface="PingFang SC"/>
              </a:rPr>
              <a:t>雨纹能量集中于特定中高频带的周期性模式未被充分利用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200400"/>
            <a:ext cx="69494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53712" y="3493008"/>
            <a:ext cx="502920" cy="502920"/>
          </a:xfrm>
          <a:prstGeom prst="round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53712" y="3493008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3401568"/>
            <a:ext cx="576072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600" b="1" i="0">
                <a:solidFill>
                  <a:srgbClr val="1E2A52"/>
                </a:solidFill>
                <a:latin typeface="PingFang SC"/>
                <a:ea typeface="PingFang SC"/>
              </a:rPr>
              <a:t>痛点 2  ·  缺乏方向性显式建模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3858768"/>
            <a:ext cx="580644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66E82"/>
                </a:solidFill>
                <a:latin typeface="PingFang SC"/>
                <a:ea typeface="PingFang SC"/>
              </a:rPr>
              <a:t>标准卷积的方形感受野无法有效利用雨纹的方向先验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617720"/>
            <a:ext cx="69494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553712" y="4910328"/>
            <a:ext cx="502920" cy="502920"/>
          </a:xfrm>
          <a:prstGeom prst="round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53712" y="4910328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4818888"/>
            <a:ext cx="576072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600" b="1" i="0">
                <a:solidFill>
                  <a:srgbClr val="1E2A52"/>
                </a:solidFill>
                <a:latin typeface="PingFang SC"/>
                <a:ea typeface="PingFang SC"/>
              </a:rPr>
              <a:t>痛点 3  ·  损失空域等强度约束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5276088"/>
            <a:ext cx="580644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66E82"/>
                </a:solidFill>
                <a:latin typeface="PingFang SC"/>
                <a:ea typeface="PingFang SC"/>
              </a:rPr>
              <a:t>对不同频段施加等强约束，忽视各频段恢复难度差异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6035040"/>
            <a:ext cx="69494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250" b="1" i="0">
                <a:solidFill>
                  <a:srgbClr val="1E8A8C"/>
                </a:solidFill>
                <a:latin typeface="PingFang SC"/>
                <a:ea typeface="PingFang SC"/>
              </a:rPr>
              <a:t>应对思路：模型设计 → 模型增强 → 训练优化 的递进式闭环创新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900" b="0" i="0">
                <a:solidFill>
                  <a:srgbClr val="666E82"/>
                </a:solidFill>
                <a:latin typeface="PingFang SC"/>
                <a:ea typeface="PingFang SC"/>
              </a:rPr>
              <a:t>基于频域增强与状态空间模型的图像恢复方法研究  ·  硕士研究生论文中期进展报告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r"/>
            <a:r>
              <a:rPr sz="1000" b="1" i="0">
                <a:solidFill>
                  <a:srgbClr val="1E8A8C"/>
                </a:solidFill>
                <a:latin typeface="PingFang SC"/>
                <a:ea typeface="PingFang S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09728" cy="786384"/>
          </a:xfrm>
          <a:prstGeom prst="rect">
            <a:avLst/>
          </a:prstGeom>
          <a:solidFill>
            <a:srgbClr val="1E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30352"/>
            <a:ext cx="106070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300" b="1" i="0">
                <a:solidFill>
                  <a:srgbClr val="1E8A8C"/>
                </a:solidFill>
                <a:latin typeface="PingFang SC"/>
                <a:ea typeface="PingFang SC"/>
              </a:rPr>
              <a:t>03  创新点 1 · RFM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22960"/>
            <a:ext cx="1078992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2700" b="1" i="0">
                <a:solidFill>
                  <a:srgbClr val="1E2A52"/>
                </a:solidFill>
                <a:latin typeface="PingFang SC"/>
                <a:ea typeface="PingFang SC"/>
              </a:rPr>
              <a:t>残差频域模块：频域幅度谱可学习增强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52760" cy="18288"/>
          </a:xfrm>
          <a:prstGeom prst="rect">
            <a:avLst/>
          </a:prstGeom>
          <a:solidFill>
            <a:srgbClr val="D3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400" b="1" i="0">
                <a:solidFill>
                  <a:srgbClr val="1E8A8C"/>
                </a:solidFill>
                <a:latin typeface="PingFang SC"/>
                <a:ea typeface="PingFang SC"/>
              </a:rPr>
              <a:t>核心思想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516636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A1F36"/>
                </a:solidFill>
                <a:latin typeface="PingFang SC"/>
                <a:ea typeface="PingFang SC"/>
              </a:rPr>
              <a:t>FFT 映射至频域 → 幅度谱非线性增强、保持相位 → iFFT 回空域残差融合，精准抑制雨纹周期性频率成分。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063240"/>
            <a:ext cx="5166360" cy="512064"/>
          </a:xfrm>
          <a:prstGeom prst="roundRect">
            <a:avLst/>
          </a:prstGeom>
          <a:solidFill>
            <a:srgbClr val="E8EEF7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3063240"/>
            <a:ext cx="4754880" cy="51206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500" b="1" i="1">
                <a:solidFill>
                  <a:srgbClr val="1E2A52"/>
                </a:solidFill>
                <a:latin typeface="PingFang SC"/>
                <a:ea typeface="PingFang SC"/>
              </a:rPr>
              <a:t>F = FFT₂ᴰ(x)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685032"/>
            <a:ext cx="5166360" cy="512064"/>
          </a:xfrm>
          <a:prstGeom prst="roundRect">
            <a:avLst/>
          </a:prstGeom>
          <a:solidFill>
            <a:srgbClr val="E8EEF7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3685032"/>
            <a:ext cx="4754880" cy="51206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500" b="1" i="1">
                <a:solidFill>
                  <a:srgbClr val="1E2A52"/>
                </a:solidFill>
                <a:latin typeface="PingFang SC"/>
                <a:ea typeface="PingFang SC"/>
              </a:rPr>
              <a:t>A = |F| ,   φ = ∠F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306824"/>
            <a:ext cx="5166360" cy="512064"/>
          </a:xfrm>
          <a:prstGeom prst="roundRect">
            <a:avLst/>
          </a:prstGeom>
          <a:solidFill>
            <a:srgbClr val="E8EEF7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4306824"/>
            <a:ext cx="4754880" cy="51206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500" b="1" i="1">
                <a:solidFill>
                  <a:srgbClr val="1E2A52"/>
                </a:solidFill>
                <a:latin typeface="PingFang SC"/>
                <a:ea typeface="PingFang SC"/>
              </a:rPr>
              <a:t>A′ = σ( W₂ · ReLU( W₁ · A ) 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928616"/>
            <a:ext cx="5166360" cy="512064"/>
          </a:xfrm>
          <a:prstGeom prst="roundRect">
            <a:avLst/>
          </a:prstGeom>
          <a:solidFill>
            <a:srgbClr val="E8EEF7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4928616"/>
            <a:ext cx="4754880" cy="51206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500" b="1" i="1">
                <a:solidFill>
                  <a:srgbClr val="1E2A52"/>
                </a:solidFill>
                <a:latin typeface="PingFang SC"/>
                <a:ea typeface="PingFang SC"/>
              </a:rPr>
              <a:t>x_out = x + iFFT₂ᴰ( A′ · e^{jφ} 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691640"/>
            <a:ext cx="498348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1874519"/>
            <a:ext cx="36576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400" b="1" i="0">
                <a:solidFill>
                  <a:srgbClr val="1E2A52"/>
                </a:solidFill>
                <a:latin typeface="PingFang SC"/>
                <a:ea typeface="PingFang SC"/>
              </a:rPr>
              <a:t>设计优势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286000"/>
            <a:ext cx="4480560" cy="192024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A1F36"/>
                </a:solidFill>
                <a:latin typeface="PingFang SC"/>
                <a:ea typeface="PingFang SC"/>
              </a:rPr>
              <a:t>① 直接频域操作，精准定位雨纹频率成分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A1F36"/>
                </a:solidFill>
                <a:latin typeface="PingFang SC"/>
                <a:ea typeface="PingFang SC"/>
              </a:rPr>
              <a:t>② 残差连接保证训练稳定性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A1F36"/>
                </a:solidFill>
                <a:latin typeface="PingFang SC"/>
                <a:ea typeface="PingFang SC"/>
              </a:rPr>
              <a:t>③ 轻量化，仅两个 1×1 卷积，额外约 0.1M 参数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A1F36"/>
                </a:solidFill>
                <a:latin typeface="PingFang SC"/>
                <a:ea typeface="PingFang SC"/>
              </a:rPr>
              <a:t>④ 相位保留，确保空间结构完整性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4526280"/>
            <a:ext cx="4983480" cy="1417320"/>
          </a:xfrm>
          <a:prstGeom prst="roundRect">
            <a:avLst/>
          </a:prstGeom>
          <a:solidFill>
            <a:srgbClr val="D6ECEC"/>
          </a:solidFill>
          <a:ln w="19050">
            <a:solidFill>
              <a:srgbClr val="1E8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29400" y="4663440"/>
            <a:ext cx="45720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300" b="1" i="0">
                <a:solidFill>
                  <a:srgbClr val="1E8A8C"/>
                </a:solidFill>
                <a:latin typeface="PingFang SC"/>
                <a:ea typeface="PingFang SC"/>
              </a:rPr>
              <a:t>Rain200L 验证结果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5029200"/>
            <a:ext cx="310896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2500" b="1" i="0">
                <a:solidFill>
                  <a:srgbClr val="1E2A52"/>
                </a:solidFill>
                <a:latin typeface="PingFang SC"/>
                <a:ea typeface="PingFang SC"/>
              </a:rPr>
              <a:t>41.71 → 41.79 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5074920"/>
            <a:ext cx="13716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2000" b="1" i="0">
                <a:solidFill>
                  <a:srgbClr val="2E8B57"/>
                </a:solidFill>
                <a:latin typeface="PingFang SC"/>
                <a:ea typeface="PingFang SC"/>
              </a:rPr>
              <a:t>+0.08 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5532120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100" b="0" i="0">
                <a:solidFill>
                  <a:srgbClr val="666E82"/>
                </a:solidFill>
                <a:latin typeface="PingFang SC"/>
                <a:ea typeface="PingFang SC"/>
              </a:rPr>
              <a:t>PSNR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5559552"/>
            <a:ext cx="31089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050" b="0" i="0">
                <a:solidFill>
                  <a:srgbClr val="666E82"/>
                </a:solidFill>
                <a:latin typeface="PingFang SC"/>
                <a:ea typeface="PingFang SC"/>
              </a:rPr>
              <a:t>SSIM 0.9903 → 0.9906  ·  验证频域增强有效性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053328"/>
            <a:ext cx="5120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150" b="1" i="0">
                <a:solidFill>
                  <a:srgbClr val="2E8B57"/>
                </a:solidFill>
                <a:latin typeface="PingFang SC"/>
                <a:ea typeface="PingFang SC"/>
              </a:rPr>
              <a:t>状态：已完成实现与验证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900" b="0" i="0">
                <a:solidFill>
                  <a:srgbClr val="666E82"/>
                </a:solidFill>
                <a:latin typeface="PingFang SC"/>
                <a:ea typeface="PingFang SC"/>
              </a:rPr>
              <a:t>基于频域增强与状态空间模型的图像恢复方法研究  ·  硕士研究生论文中期进展报告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r"/>
            <a:r>
              <a:rPr sz="1000" b="1" i="0">
                <a:solidFill>
                  <a:srgbClr val="1E8A8C"/>
                </a:solidFill>
                <a:latin typeface="PingFang SC"/>
                <a:ea typeface="PingFang S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09728" cy="786384"/>
          </a:xfrm>
          <a:prstGeom prst="rect">
            <a:avLst/>
          </a:prstGeom>
          <a:solidFill>
            <a:srgbClr val="1E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30352"/>
            <a:ext cx="106070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300" b="1" i="0">
                <a:solidFill>
                  <a:srgbClr val="1E8A8C"/>
                </a:solidFill>
                <a:latin typeface="PingFang SC"/>
                <a:ea typeface="PingFang SC"/>
              </a:rPr>
              <a:t>03  创新点 2 · MFGCP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22960"/>
            <a:ext cx="1078992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2700" b="1" i="0">
                <a:solidFill>
                  <a:srgbClr val="1E2A52"/>
                </a:solidFill>
                <a:latin typeface="PingFang SC"/>
                <a:ea typeface="PingFang SC"/>
              </a:rPr>
              <a:t>多尺度频域-梯度协同：五方向微分卷积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52760" cy="18288"/>
          </a:xfrm>
          <a:prstGeom prst="rect">
            <a:avLst/>
          </a:prstGeom>
          <a:solidFill>
            <a:srgbClr val="D3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59436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400" b="1" i="0">
                <a:solidFill>
                  <a:srgbClr val="1E8A8C"/>
                </a:solidFill>
                <a:latin typeface="PingFang SC"/>
                <a:ea typeface="PingFang SC"/>
              </a:rPr>
              <a:t>MDPConv 五方向微分卷积分支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084831"/>
            <a:ext cx="5806440" cy="402336"/>
          </a:xfrm>
          <a:prstGeom prst="rect">
            <a:avLst/>
          </a:prstGeom>
          <a:solidFill>
            <a:srgbClr val="1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084831"/>
            <a:ext cx="2286000" cy="4023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</a:rPr>
              <a:t>分支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084831"/>
            <a:ext cx="1097280" cy="4023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</a:rPr>
              <a:t>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084831"/>
            <a:ext cx="2423160" cy="40233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ingFang SC"/>
                <a:ea typeface="PingFang SC"/>
              </a:rPr>
              <a:t>目标特征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487168"/>
            <a:ext cx="58064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487168"/>
            <a:ext cx="2286000" cy="42062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150" b="1" i="0">
                <a:solidFill>
                  <a:srgbClr val="1E2A52"/>
                </a:solidFill>
                <a:latin typeface="PingFang SC"/>
                <a:ea typeface="PingFang SC"/>
              </a:rPr>
              <a:t>HDC 水平差分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487168"/>
            <a:ext cx="1097280" cy="42062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150" b="0" i="0">
                <a:solidFill>
                  <a:srgbClr val="1E8A8C"/>
                </a:solidFill>
                <a:latin typeface="PingFang SC"/>
                <a:ea typeface="PingFang SC"/>
              </a:rPr>
              <a:t>1×3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487168"/>
            <a:ext cx="2331720" cy="42062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100" b="0" i="0">
                <a:solidFill>
                  <a:srgbClr val="666E82"/>
                </a:solidFill>
                <a:latin typeface="PingFang SC"/>
                <a:ea typeface="PingFang SC"/>
              </a:rPr>
              <a:t>水平边缘 / 水平雨纹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2907791"/>
            <a:ext cx="5806440" cy="420624"/>
          </a:xfrm>
          <a:prstGeom prst="rect">
            <a:avLst/>
          </a:prstGeom>
          <a:solidFill>
            <a:srgbClr val="E8EEF7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2907791"/>
            <a:ext cx="2286000" cy="42062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150" b="1" i="0">
                <a:solidFill>
                  <a:srgbClr val="1E2A52"/>
                </a:solidFill>
                <a:latin typeface="PingFang SC"/>
                <a:ea typeface="PingFang SC"/>
              </a:rPr>
              <a:t>VC  竖直卷积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907791"/>
            <a:ext cx="1097280" cy="42062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150" b="0" i="0">
                <a:solidFill>
                  <a:srgbClr val="1E8A8C"/>
                </a:solidFill>
                <a:latin typeface="PingFang SC"/>
                <a:ea typeface="PingFang SC"/>
              </a:rPr>
              <a:t>3×1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907791"/>
            <a:ext cx="2331720" cy="42062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100" b="0" i="0">
                <a:solidFill>
                  <a:srgbClr val="666E82"/>
                </a:solidFill>
                <a:latin typeface="PingFang SC"/>
                <a:ea typeface="PingFang SC"/>
              </a:rPr>
              <a:t>竖直方向雨线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328415"/>
            <a:ext cx="58064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328415"/>
            <a:ext cx="2286000" cy="42062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150" b="1" i="0">
                <a:solidFill>
                  <a:srgbClr val="1E2A52"/>
                </a:solidFill>
                <a:latin typeface="PingFang SC"/>
                <a:ea typeface="PingFang SC"/>
              </a:rPr>
              <a:t>CDC 中心差分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328415"/>
            <a:ext cx="1097280" cy="42062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150" b="0" i="0">
                <a:solidFill>
                  <a:srgbClr val="1E8A8C"/>
                </a:solidFill>
                <a:latin typeface="PingFang SC"/>
                <a:ea typeface="PingFang SC"/>
              </a:rPr>
              <a:t>3×3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3328415"/>
            <a:ext cx="2331720" cy="42062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100" b="0" i="0">
                <a:solidFill>
                  <a:srgbClr val="666E82"/>
                </a:solidFill>
                <a:latin typeface="PingFang SC"/>
                <a:ea typeface="PingFang SC"/>
              </a:rPr>
              <a:t>中心对比度增强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3749039"/>
            <a:ext cx="5806440" cy="420624"/>
          </a:xfrm>
          <a:prstGeom prst="rect">
            <a:avLst/>
          </a:prstGeom>
          <a:solidFill>
            <a:srgbClr val="E8EEF7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3749039"/>
            <a:ext cx="2286000" cy="42062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150" b="1" i="0">
                <a:solidFill>
                  <a:srgbClr val="1E2A52"/>
                </a:solidFill>
                <a:latin typeface="PingFang SC"/>
                <a:ea typeface="PingFang SC"/>
              </a:rPr>
              <a:t>ADC 对角差分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3749039"/>
            <a:ext cx="1097280" cy="42062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150" b="0" i="0">
                <a:solidFill>
                  <a:srgbClr val="1E8A8C"/>
                </a:solidFill>
                <a:latin typeface="PingFang SC"/>
                <a:ea typeface="PingFang SC"/>
              </a:rPr>
              <a:t>3×3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3749039"/>
            <a:ext cx="2331720" cy="42062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100" b="0" i="0">
                <a:solidFill>
                  <a:srgbClr val="666E82"/>
                </a:solidFill>
                <a:latin typeface="PingFang SC"/>
                <a:ea typeface="PingFang SC"/>
              </a:rPr>
              <a:t>对角线纹理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4169663"/>
            <a:ext cx="58064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4169663"/>
            <a:ext cx="2286000" cy="42062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150" b="1" i="0">
                <a:solidFill>
                  <a:srgbClr val="1E2A52"/>
                </a:solidFill>
                <a:latin typeface="PingFang SC"/>
                <a:ea typeface="PingFang SC"/>
              </a:rPr>
              <a:t>VDC 反对角差分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169663"/>
            <a:ext cx="1097280" cy="42062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150" b="0" i="0">
                <a:solidFill>
                  <a:srgbClr val="1E8A8C"/>
                </a:solidFill>
                <a:latin typeface="PingFang SC"/>
                <a:ea typeface="PingFang SC"/>
              </a:rPr>
              <a:t>3×3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4169663"/>
            <a:ext cx="2331720" cy="42062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100" b="0" i="0">
                <a:solidFill>
                  <a:srgbClr val="666E82"/>
                </a:solidFill>
                <a:latin typeface="PingFang SC"/>
                <a:ea typeface="PingFang SC"/>
              </a:rPr>
              <a:t>反对角线纹理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526280"/>
            <a:ext cx="5852160" cy="7772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F36"/>
                </a:solidFill>
                <a:latin typeface="PingFang SC"/>
                <a:ea typeface="PingFang SC"/>
              </a:rPr>
              <a:t>深度可分离卷积实现；训练后可结构重参数化合并为单个等效 3×3 卷积，推理零额外开销。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49440" y="1645920"/>
            <a:ext cx="4434840" cy="1737360"/>
          </a:xfrm>
          <a:prstGeom prst="roundRect">
            <a:avLst/>
          </a:prstGeom>
          <a:solidFill>
            <a:srgbClr val="E8EEF7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178040" y="1783080"/>
            <a:ext cx="40233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250" b="1" i="0">
                <a:solidFill>
                  <a:srgbClr val="2C3E74"/>
                </a:solidFill>
                <a:latin typeface="PingFang SC"/>
                <a:ea typeface="PingFang SC"/>
              </a:rPr>
              <a:t>MFGCP Transformer Block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2194560"/>
            <a:ext cx="40233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300" b="1" i="1">
                <a:solidFill>
                  <a:srgbClr val="1E2A52"/>
                </a:solidFill>
                <a:latin typeface="PingFang SC"/>
                <a:ea typeface="PingFang SC"/>
              </a:rPr>
              <a:t>x = x + Attn(Norm(x))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2578608"/>
            <a:ext cx="40233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300" b="1" i="1">
                <a:solidFill>
                  <a:srgbClr val="1E2A52"/>
                </a:solidFill>
                <a:latin typeface="PingFang SC"/>
                <a:ea typeface="PingFang SC"/>
              </a:rPr>
              <a:t>x = x + FFN(Norm(x)) + RFM(x)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2926080"/>
            <a:ext cx="40233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300" b="1" i="1">
                <a:solidFill>
                  <a:srgbClr val="1E2A52"/>
                </a:solidFill>
                <a:latin typeface="PingFang SC"/>
                <a:ea typeface="PingFang SC"/>
              </a:rPr>
              <a:t>          + α · MDPConv(x)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49440" y="3611880"/>
            <a:ext cx="443484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8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178040" y="3749039"/>
            <a:ext cx="40233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250" b="1" i="0">
                <a:solidFill>
                  <a:srgbClr val="1E8A8C"/>
                </a:solidFill>
                <a:latin typeface="PingFang SC"/>
                <a:ea typeface="PingFang SC"/>
              </a:rPr>
              <a:t>α 可学习标量，初始化 0.1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78040" y="4114800"/>
            <a:ext cx="4023360" cy="6858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A1F36"/>
                </a:solidFill>
                <a:latin typeface="PingFang SC"/>
                <a:ea typeface="PingFang SC"/>
              </a:rPr>
              <a:t>共 18 个 α 参数张量，各层自适应学习方向性增强强度，收敛约 0.15~0.25。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949440" y="5074920"/>
            <a:ext cx="4434840" cy="1051560"/>
          </a:xfrm>
          <a:prstGeom prst="roundRect">
            <a:avLst/>
          </a:prstGeom>
          <a:solidFill>
            <a:srgbClr val="D6ECEC"/>
          </a:solidFill>
          <a:ln w="19050">
            <a:solidFill>
              <a:srgbClr val="1E8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178040" y="5193792"/>
            <a:ext cx="402336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800" b="1" i="0">
                <a:solidFill>
                  <a:srgbClr val="1E2A52"/>
                </a:solidFill>
                <a:latin typeface="PingFang SC"/>
                <a:ea typeface="PingFang SC"/>
              </a:rPr>
              <a:t>额外参数  ≈ 0.23M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78040" y="5650992"/>
            <a:ext cx="40233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100" b="0" i="0">
                <a:solidFill>
                  <a:srgbClr val="666E82"/>
                </a:solidFill>
                <a:latin typeface="PingFang SC"/>
                <a:ea typeface="PingFang SC"/>
              </a:rPr>
              <a:t>占模型总参数量 &lt; 5%  ·  代码已实现，集成于 exp3 训练中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900" b="0" i="0">
                <a:solidFill>
                  <a:srgbClr val="666E82"/>
                </a:solidFill>
                <a:latin typeface="PingFang SC"/>
                <a:ea typeface="PingFang SC"/>
              </a:rPr>
              <a:t>基于频域增强与状态空间模型的图像恢复方法研究  ·  硕士研究生论文中期进展报告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r"/>
            <a:r>
              <a:rPr sz="1000" b="1" i="0">
                <a:solidFill>
                  <a:srgbClr val="1E8A8C"/>
                </a:solidFill>
                <a:latin typeface="PingFang SC"/>
                <a:ea typeface="PingFang S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09728" cy="786384"/>
          </a:xfrm>
          <a:prstGeom prst="rect">
            <a:avLst/>
          </a:prstGeom>
          <a:solidFill>
            <a:srgbClr val="1E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30352"/>
            <a:ext cx="106070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300" b="1" i="0">
                <a:solidFill>
                  <a:srgbClr val="1E8A8C"/>
                </a:solidFill>
                <a:latin typeface="PingFang SC"/>
                <a:ea typeface="PingFang SC"/>
              </a:rPr>
              <a:t>03  创新点 3 · HAFL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22960"/>
            <a:ext cx="1078992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2700" b="1" i="0">
                <a:solidFill>
                  <a:srgbClr val="1E2A52"/>
                </a:solidFill>
                <a:latin typeface="PingFang SC"/>
                <a:ea typeface="PingFang SC"/>
              </a:rPr>
              <a:t>分层自适应频域损失 + 渐进式课程学习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52760" cy="18288"/>
          </a:xfrm>
          <a:prstGeom prst="rect">
            <a:avLst/>
          </a:prstGeom>
          <a:solidFill>
            <a:srgbClr val="D3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57607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350" b="1" i="0">
                <a:solidFill>
                  <a:srgbClr val="1E8A8C"/>
                </a:solidFill>
                <a:latin typeface="PingFang SC"/>
                <a:ea typeface="PingFang SC"/>
              </a:rPr>
              <a:t>频域三子带分解（截止频率 0.25 / 0.75）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084831"/>
            <a:ext cx="128016" cy="777240"/>
          </a:xfrm>
          <a:prstGeom prst="rect">
            <a:avLst/>
          </a:prstGeom>
          <a:solidFill>
            <a:srgbClr val="1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1560" y="2084831"/>
            <a:ext cx="55321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40" y="2157984"/>
            <a:ext cx="11887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500" b="1" i="0">
                <a:solidFill>
                  <a:srgbClr val="1E2A52"/>
                </a:solidFill>
                <a:latin typeface="PingFang SC"/>
                <a:ea typeface="PingFang SC"/>
              </a:rPr>
              <a:t>低频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05456"/>
            <a:ext cx="12801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100" b="0" i="0">
                <a:solidFill>
                  <a:srgbClr val="666E82"/>
                </a:solidFill>
                <a:latin typeface="PingFang SC"/>
                <a:ea typeface="PingFang SC"/>
              </a:rPr>
              <a:t>整体结构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084831"/>
            <a:ext cx="393192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300" b="1" i="1">
                <a:solidFill>
                  <a:srgbClr val="1E2A52"/>
                </a:solidFill>
                <a:latin typeface="PingFang SC"/>
                <a:ea typeface="PingFang SC"/>
              </a:rPr>
              <a:t>w = 0.8  恒定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999232"/>
            <a:ext cx="128016" cy="777240"/>
          </a:xfrm>
          <a:prstGeom prst="rect">
            <a:avLst/>
          </a:prstGeom>
          <a:solidFill>
            <a:srgbClr val="1E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1560" y="2999232"/>
            <a:ext cx="55321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34440" y="3072384"/>
            <a:ext cx="11887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500" b="1" i="0">
                <a:solidFill>
                  <a:srgbClr val="1E8A8C"/>
                </a:solidFill>
                <a:latin typeface="PingFang SC"/>
                <a:ea typeface="PingFang SC"/>
              </a:rPr>
              <a:t>中频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419856"/>
            <a:ext cx="12801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100" b="0" i="0">
                <a:solidFill>
                  <a:srgbClr val="666E82"/>
                </a:solidFill>
                <a:latin typeface="PingFang SC"/>
                <a:ea typeface="PingFang SC"/>
              </a:rPr>
              <a:t>主要纹理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2999232"/>
            <a:ext cx="393192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300" b="1" i="1">
                <a:solidFill>
                  <a:srgbClr val="1E2A52"/>
                </a:solidFill>
                <a:latin typeface="PingFang SC"/>
                <a:ea typeface="PingFang SC"/>
              </a:rPr>
              <a:t>w = 0.5·min(1, 2t)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913631"/>
            <a:ext cx="128016" cy="77724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1560" y="3913631"/>
            <a:ext cx="55321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34440" y="3986783"/>
            <a:ext cx="11887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500" b="1" i="0">
                <a:solidFill>
                  <a:srgbClr val="E08A2B"/>
                </a:solidFill>
                <a:latin typeface="PingFang SC"/>
                <a:ea typeface="PingFang SC"/>
              </a:rPr>
              <a:t>高频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334255"/>
            <a:ext cx="12801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100" b="0" i="0">
                <a:solidFill>
                  <a:srgbClr val="666E82"/>
                </a:solidFill>
                <a:latin typeface="PingFang SC"/>
                <a:ea typeface="PingFang SC"/>
              </a:rPr>
              <a:t>细节纹理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3913631"/>
            <a:ext cx="393192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300" b="1" i="1">
                <a:solidFill>
                  <a:srgbClr val="1E2A52"/>
                </a:solidFill>
                <a:latin typeface="PingFang SC"/>
                <a:ea typeface="PingFang SC"/>
              </a:rPr>
              <a:t>w = 0.3·min(1, max(0, 3(t−⅓)))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937760"/>
            <a:ext cx="5760720" cy="9144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1A1F36"/>
                </a:solidFill>
                <a:latin typeface="PingFang SC"/>
                <a:ea typeface="PingFang SC"/>
              </a:rPr>
              <a:t>三阶段课程学习：初期仅低频约束学整体结构 → 中期引入中频 → 后期启用高频精修，从易到难。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1645920"/>
            <a:ext cx="4480560" cy="2286000"/>
          </a:xfrm>
          <a:prstGeom prst="roundRect">
            <a:avLst/>
          </a:prstGeom>
          <a:solidFill>
            <a:srgbClr val="E8EEF7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20" y="1783080"/>
            <a:ext cx="40233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300" b="1" i="0">
                <a:solidFill>
                  <a:srgbClr val="2C3E74"/>
                </a:solidFill>
                <a:latin typeface="PingFang SC"/>
                <a:ea typeface="PingFang SC"/>
              </a:rPr>
              <a:t>总训练损失（五项组成）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2240280"/>
            <a:ext cx="4160520" cy="16459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50" b="1">
                <a:solidFill>
                  <a:srgbClr val="1E2A52"/>
                </a:solidFill>
                <a:latin typeface="PingFang SC"/>
                <a:ea typeface="PingFang SC"/>
              </a:rPr>
              <a:t>L_total = L_char + 0.01·L_fft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50" b="1">
                <a:solidFill>
                  <a:srgbClr val="1E2A52"/>
                </a:solidFill>
                <a:latin typeface="PingFang SC"/>
                <a:ea typeface="PingFang SC"/>
              </a:rPr>
              <a:t>        + 0.05·L_edge + 0.1·L_l1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50" b="1">
                <a:solidFill>
                  <a:srgbClr val="1E8A8C"/>
                </a:solidFill>
                <a:latin typeface="PingFang SC"/>
                <a:ea typeface="PingFang SC"/>
              </a:rPr>
              <a:t>        + 0.1·L_HAFL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66E82"/>
                </a:solidFill>
                <a:latin typeface="PingFang SC"/>
                <a:ea typeface="PingFang SC"/>
              </a:rPr>
              <a:t>L_HAFL = Σ w_k · ‖x̂_k − x*_k‖₁ ,  k∈{低,中,高}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03720" y="4160520"/>
            <a:ext cx="4480560" cy="1737360"/>
          </a:xfrm>
          <a:prstGeom prst="roundRect">
            <a:avLst/>
          </a:prstGeom>
          <a:solidFill>
            <a:srgbClr val="D6ECEC"/>
          </a:solidFill>
          <a:ln w="19050">
            <a:solidFill>
              <a:srgbClr val="1E8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32320" y="4297680"/>
            <a:ext cx="40233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250" b="1" i="0">
                <a:solidFill>
                  <a:srgbClr val="1E8A8C"/>
                </a:solidFill>
                <a:latin typeface="PingFang SC"/>
                <a:ea typeface="PingFang SC"/>
              </a:rPr>
              <a:t>Rain200L 验证结果（RFM + HAFL）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663440"/>
            <a:ext cx="3108960" cy="5943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2300" b="1" i="0">
                <a:solidFill>
                  <a:srgbClr val="1E2A52"/>
                </a:solidFill>
                <a:latin typeface="PingFang SC"/>
                <a:ea typeface="PingFang SC"/>
              </a:rPr>
              <a:t>41.79 → 41.89 dB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04120" y="4709160"/>
            <a:ext cx="128016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800" b="1" i="0">
                <a:solidFill>
                  <a:srgbClr val="2E8B57"/>
                </a:solidFill>
                <a:latin typeface="PingFang SC"/>
                <a:ea typeface="PingFang SC"/>
              </a:rPr>
              <a:t>+0.10 dB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5349240"/>
            <a:ext cx="4114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A1F36"/>
                </a:solidFill>
                <a:latin typeface="PingFang SC"/>
                <a:ea typeface="PingFang SC"/>
              </a:rPr>
              <a:t>纯训练策略优化，零额外模型参数，累计较基线 +0.18 dB。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900" b="0" i="0">
                <a:solidFill>
                  <a:srgbClr val="666E82"/>
                </a:solidFill>
                <a:latin typeface="PingFang SC"/>
                <a:ea typeface="PingFang SC"/>
              </a:rPr>
              <a:t>基于频域增强与状态空间模型的图像恢复方法研究  ·  硕士研究生论文中期进展报告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r"/>
            <a:r>
              <a:rPr sz="1000" b="1" i="0">
                <a:solidFill>
                  <a:srgbClr val="1E8A8C"/>
                </a:solidFill>
                <a:latin typeface="PingFang SC"/>
                <a:ea typeface="PingFang S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09728" cy="786384"/>
          </a:xfrm>
          <a:prstGeom prst="rect">
            <a:avLst/>
          </a:prstGeom>
          <a:solidFill>
            <a:srgbClr val="1E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30352"/>
            <a:ext cx="106070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300" b="1" i="0">
                <a:solidFill>
                  <a:srgbClr val="1E8A8C"/>
                </a:solidFill>
                <a:latin typeface="PingFang SC"/>
                <a:ea typeface="PingFang SC"/>
              </a:rPr>
              <a:t>03  课题一 · 消融实验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22960"/>
            <a:ext cx="1078992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2700" b="1" i="0">
                <a:solidFill>
                  <a:srgbClr val="1E2A52"/>
                </a:solidFill>
                <a:latin typeface="PingFang SC"/>
                <a:ea typeface="PingFang SC"/>
              </a:rPr>
              <a:t>Rain200L 递进式消融（Y 通道 PSNR / SSIM）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52760" cy="18288"/>
          </a:xfrm>
          <a:prstGeom prst="rect">
            <a:avLst/>
          </a:prstGeom>
          <a:solidFill>
            <a:srgbClr val="D3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10561320" cy="502920"/>
          </a:xfrm>
          <a:prstGeom prst="rect">
            <a:avLst/>
          </a:prstGeom>
          <a:solidFill>
            <a:srgbClr val="1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828800"/>
            <a:ext cx="42976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ingFang SC"/>
                <a:ea typeface="PingFang SC"/>
              </a:rPr>
              <a:t>实验配置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1828800"/>
            <a:ext cx="15544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ingFang SC"/>
                <a:ea typeface="PingFang SC"/>
              </a:rPr>
              <a:t>PSNR(dB)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4848" y="1828800"/>
            <a:ext cx="15544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ingFang SC"/>
                <a:ea typeface="PingFang SC"/>
              </a:rPr>
              <a:t>SSIM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9327" y="1828800"/>
            <a:ext cx="173736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ingFang SC"/>
                <a:ea typeface="PingFang SC"/>
              </a:rPr>
              <a:t>相对提升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76688" y="1828800"/>
            <a:ext cx="14173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ingFang SC"/>
                <a:ea typeface="PingFang SC"/>
              </a:rPr>
              <a:t>状态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331720"/>
            <a:ext cx="105613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2331720"/>
            <a:ext cx="429768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350" b="0" i="0">
                <a:solidFill>
                  <a:srgbClr val="1E2A52"/>
                </a:solidFill>
                <a:latin typeface="PingFang SC"/>
                <a:ea typeface="PingFang SC"/>
              </a:rPr>
              <a:t>Baseline (NeRD-Rain)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331720"/>
            <a:ext cx="155448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1400" b="1" i="0">
                <a:solidFill>
                  <a:srgbClr val="1A1F36"/>
                </a:solidFill>
                <a:latin typeface="PingFang SC"/>
                <a:ea typeface="PingFang SC"/>
              </a:rPr>
              <a:t>41.71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331720"/>
            <a:ext cx="155448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1300" b="0" i="0">
                <a:solidFill>
                  <a:srgbClr val="1A1F36"/>
                </a:solidFill>
                <a:latin typeface="PingFang SC"/>
                <a:ea typeface="PingFang SC"/>
              </a:rPr>
              <a:t>0.9903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331720"/>
            <a:ext cx="173736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1400" b="1" i="0">
                <a:solidFill>
                  <a:srgbClr val="666E82"/>
                </a:solidFill>
                <a:latin typeface="PingFang SC"/>
                <a:ea typeface="PingFang SC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2331720"/>
            <a:ext cx="141732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1250" b="1" i="0">
                <a:solidFill>
                  <a:srgbClr val="666E82"/>
                </a:solidFill>
                <a:latin typeface="PingFang SC"/>
                <a:ea typeface="PingFang SC"/>
              </a:rPr>
              <a:t>已完成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2990087"/>
            <a:ext cx="10561320" cy="658368"/>
          </a:xfrm>
          <a:prstGeom prst="rect">
            <a:avLst/>
          </a:prstGeom>
          <a:solidFill>
            <a:srgbClr val="E8EEF7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2990087"/>
            <a:ext cx="429768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350" b="0" i="0">
                <a:solidFill>
                  <a:srgbClr val="1E2A52"/>
                </a:solidFill>
                <a:latin typeface="PingFang SC"/>
                <a:ea typeface="PingFang SC"/>
              </a:rPr>
              <a:t>+ RFM（创新点 1）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990087"/>
            <a:ext cx="155448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1400" b="1" i="0">
                <a:solidFill>
                  <a:srgbClr val="1A1F36"/>
                </a:solidFill>
                <a:latin typeface="PingFang SC"/>
                <a:ea typeface="PingFang SC"/>
              </a:rPr>
              <a:t>41.79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990087"/>
            <a:ext cx="155448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1300" b="0" i="0">
                <a:solidFill>
                  <a:srgbClr val="1A1F36"/>
                </a:solidFill>
                <a:latin typeface="PingFang SC"/>
                <a:ea typeface="PingFang SC"/>
              </a:rPr>
              <a:t>0.9906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990087"/>
            <a:ext cx="173736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1400" b="1" i="0">
                <a:solidFill>
                  <a:srgbClr val="2E8B57"/>
                </a:solidFill>
                <a:latin typeface="PingFang SC"/>
                <a:ea typeface="PingFang SC"/>
              </a:rPr>
              <a:t>+0.08 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2990087"/>
            <a:ext cx="141732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1250" b="1" i="0">
                <a:solidFill>
                  <a:srgbClr val="2E8B57"/>
                </a:solidFill>
                <a:latin typeface="PingFang SC"/>
                <a:ea typeface="PingFang SC"/>
              </a:rPr>
              <a:t>已完成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3648456"/>
            <a:ext cx="105613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3648456"/>
            <a:ext cx="429768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350" b="0" i="0">
                <a:solidFill>
                  <a:srgbClr val="1E2A52"/>
                </a:solidFill>
                <a:latin typeface="PingFang SC"/>
                <a:ea typeface="PingFang SC"/>
              </a:rPr>
              <a:t>+ RFM + HAFL（1+3）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648456"/>
            <a:ext cx="155448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1400" b="1" i="0">
                <a:solidFill>
                  <a:srgbClr val="1A1F36"/>
                </a:solidFill>
                <a:latin typeface="PingFang SC"/>
                <a:ea typeface="PingFang SC"/>
              </a:rPr>
              <a:t>41.89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648456"/>
            <a:ext cx="155448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1300" b="0" i="0">
                <a:solidFill>
                  <a:srgbClr val="1A1F36"/>
                </a:solidFill>
                <a:latin typeface="PingFang SC"/>
                <a:ea typeface="PingFang SC"/>
              </a:rPr>
              <a:t>0.9905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648456"/>
            <a:ext cx="173736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1400" b="1" i="0">
                <a:solidFill>
                  <a:srgbClr val="2E8B57"/>
                </a:solidFill>
                <a:latin typeface="PingFang SC"/>
                <a:ea typeface="PingFang SC"/>
              </a:rPr>
              <a:t>+0.18 dB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3648456"/>
            <a:ext cx="141732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1250" b="1" i="0">
                <a:solidFill>
                  <a:srgbClr val="2E8B57"/>
                </a:solidFill>
                <a:latin typeface="PingFang SC"/>
                <a:ea typeface="PingFang SC"/>
              </a:rPr>
              <a:t>已完成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4306824"/>
            <a:ext cx="10561320" cy="658368"/>
          </a:xfrm>
          <a:prstGeom prst="rect">
            <a:avLst/>
          </a:prstGeom>
          <a:solidFill>
            <a:srgbClr val="D6ECEC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20" y="4306824"/>
            <a:ext cx="429768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350" b="1" i="0">
                <a:solidFill>
                  <a:srgbClr val="1E2A52"/>
                </a:solidFill>
                <a:latin typeface="PingFang SC"/>
                <a:ea typeface="PingFang SC"/>
              </a:rPr>
              <a:t>+ RFM + MFGCP + HAFL（全部）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4306824"/>
            <a:ext cx="155448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1600" b="1" i="0">
                <a:solidFill>
                  <a:srgbClr val="1E2A52"/>
                </a:solidFill>
                <a:latin typeface="PingFang SC"/>
                <a:ea typeface="PingFang SC"/>
              </a:rPr>
              <a:t>41.93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306824"/>
            <a:ext cx="155448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1300" b="0" i="0">
                <a:solidFill>
                  <a:srgbClr val="1A1F36"/>
                </a:solidFill>
                <a:latin typeface="PingFang SC"/>
                <a:ea typeface="PingFang SC"/>
              </a:rPr>
              <a:t>0.9907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306824"/>
            <a:ext cx="173736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1400" b="1" i="0">
                <a:solidFill>
                  <a:srgbClr val="1E8A8C"/>
                </a:solidFill>
                <a:latin typeface="PingFang SC"/>
                <a:ea typeface="PingFang SC"/>
              </a:rPr>
              <a:t>+0.22 dB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4306824"/>
            <a:ext cx="141732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1250" b="1" i="0">
                <a:solidFill>
                  <a:srgbClr val="1E8A8C"/>
                </a:solidFill>
                <a:latin typeface="PingFang SC"/>
                <a:ea typeface="PingFang SC"/>
              </a:rPr>
              <a:t>全集成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892040"/>
            <a:ext cx="10515600" cy="1371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1E8A8C"/>
                </a:solidFill>
                <a:latin typeface="PingFang SC"/>
                <a:ea typeface="PingFang SC"/>
              </a:rPr>
              <a:t>关键结论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>
                <a:solidFill>
                  <a:srgbClr val="1A1F36"/>
                </a:solidFill>
                <a:latin typeface="PingFang SC"/>
                <a:ea typeface="PingFang SC"/>
              </a:rPr>
              <a:t>· 每个创新点均带来可量化正向增益，模块设计有效；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>
                <a:solidFill>
                  <a:srgbClr val="1A1F36"/>
                </a:solidFill>
                <a:latin typeface="PingFang SC"/>
                <a:ea typeface="PingFang SC"/>
              </a:rPr>
              <a:t>· RFM（结构）与 HAFL（训练）从不同维度优化，贡献正交可叠加；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A1F36"/>
                </a:solidFill>
                <a:latin typeface="PingFang SC"/>
                <a:ea typeface="PingFang SC"/>
              </a:rPr>
              <a:t>· 三创新点全集成达 41.93 dB / +0.22 dB，验证方向性建模的进一步突破。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900" b="0" i="0">
                <a:solidFill>
                  <a:srgbClr val="666E82"/>
                </a:solidFill>
                <a:latin typeface="PingFang SC"/>
                <a:ea typeface="PingFang SC"/>
              </a:rPr>
              <a:t>基于频域增强与状态空间模型的图像恢复方法研究  ·  硕士研究生论文中期进展报告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r"/>
            <a:r>
              <a:rPr sz="1000" b="1" i="0">
                <a:solidFill>
                  <a:srgbClr val="1E8A8C"/>
                </a:solidFill>
                <a:latin typeface="PingFang SC"/>
                <a:ea typeface="PingFang S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09728" cy="786384"/>
          </a:xfrm>
          <a:prstGeom prst="rect">
            <a:avLst/>
          </a:prstGeom>
          <a:solidFill>
            <a:srgbClr val="1E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30352"/>
            <a:ext cx="106070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300" b="1" i="0">
                <a:solidFill>
                  <a:srgbClr val="1E8A8C"/>
                </a:solidFill>
                <a:latin typeface="PingFang SC"/>
                <a:ea typeface="PingFang SC"/>
              </a:rPr>
              <a:t>04  课题二 · 图像超分辨率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22960"/>
            <a:ext cx="1078992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2700" b="1" i="0">
                <a:solidFill>
                  <a:srgbClr val="1E2A52"/>
                </a:solidFill>
                <a:latin typeface="PingFang SC"/>
                <a:ea typeface="PingFang SC"/>
              </a:rPr>
              <a:t>基线 MambaIRv2 与三个关键问题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52760" cy="18288"/>
          </a:xfrm>
          <a:prstGeom prst="rect">
            <a:avLst/>
          </a:prstGeom>
          <a:solidFill>
            <a:srgbClr val="D3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3200400" cy="4160520"/>
          </a:xfrm>
          <a:prstGeom prst="roundRect">
            <a:avLst/>
          </a:prstGeom>
          <a:solidFill>
            <a:srgbClr val="2C3E74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011680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300" b="1" i="0">
                <a:solidFill>
                  <a:srgbClr val="D6ECEC"/>
                </a:solidFill>
                <a:latin typeface="PingFang SC"/>
                <a:ea typeface="PingFang SC"/>
              </a:rPr>
              <a:t>基线模型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77440"/>
            <a:ext cx="288036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PingFang SC"/>
                <a:ea typeface="PingFang SC"/>
              </a:rPr>
              <a:t>MambaIRv2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852928"/>
            <a:ext cx="292608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150" b="0" i="0">
                <a:solidFill>
                  <a:srgbClr val="E8EEF7"/>
                </a:solidFill>
                <a:latin typeface="PingFang SC"/>
                <a:ea typeface="PingFang SC"/>
              </a:rPr>
              <a:t>CVPR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383280"/>
            <a:ext cx="2788920" cy="22860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>
                <a:solidFill>
                  <a:srgbClr val="E8EEF7"/>
                </a:solidFill>
                <a:latin typeface="PingFang SC"/>
                <a:ea typeface="PingFang SC"/>
              </a:rPr>
              <a:t>· 非因果注意力状态空间模型 ASSM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>
                <a:solidFill>
                  <a:srgbClr val="E8EEF7"/>
                </a:solidFill>
                <a:latin typeface="PingFang SC"/>
                <a:ea typeface="PingFang SC"/>
              </a:rPr>
              <a:t>· 线性复杂度下全局序列建模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E8EEF7"/>
                </a:solidFill>
                <a:latin typeface="PingFang SC"/>
                <a:ea typeface="PingFang SC"/>
              </a:rPr>
              <a:t>· 语义引导邻域 SGN 重排序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783080"/>
            <a:ext cx="69494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53712" y="2075688"/>
            <a:ext cx="502920" cy="502920"/>
          </a:xfrm>
          <a:prstGeom prst="roundRect">
            <a:avLst/>
          </a:prstGeom>
          <a:solidFill>
            <a:srgbClr val="2C3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53712" y="2075688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1984248"/>
            <a:ext cx="576072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600" b="1" i="0">
                <a:solidFill>
                  <a:srgbClr val="1E2A52"/>
                </a:solidFill>
                <a:latin typeface="PingFang SC"/>
                <a:ea typeface="PingFang SC"/>
              </a:rPr>
              <a:t>问题 1  ·  频域信息利用不充分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441448"/>
            <a:ext cx="580644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66E82"/>
                </a:solidFill>
                <a:latin typeface="PingFang SC"/>
                <a:ea typeface="PingFang SC"/>
              </a:rPr>
              <a:t>ASSM 长程建模强，但对高频细节的频域感知不足，制约超分重建质量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200400"/>
            <a:ext cx="69494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53712" y="3493008"/>
            <a:ext cx="502920" cy="502920"/>
          </a:xfrm>
          <a:prstGeom prst="roundRect">
            <a:avLst/>
          </a:prstGeom>
          <a:solidFill>
            <a:srgbClr val="2C3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53712" y="3493008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3401568"/>
            <a:ext cx="576072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600" b="1" i="0">
                <a:solidFill>
                  <a:srgbClr val="1E2A52"/>
                </a:solidFill>
                <a:latin typeface="PingFang SC"/>
                <a:ea typeface="PingFang SC"/>
              </a:rPr>
              <a:t>问题 2  ·  SGN 破坏空间连续性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3858768"/>
            <a:ext cx="580644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66E82"/>
                </a:solidFill>
                <a:latin typeface="PingFang SC"/>
                <a:ea typeface="PingFang SC"/>
              </a:rPr>
              <a:t>语义重排序增强语义关联，却打断 2D 空间连续性，削弱局部依赖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617720"/>
            <a:ext cx="69494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553712" y="4910328"/>
            <a:ext cx="502920" cy="502920"/>
          </a:xfrm>
          <a:prstGeom prst="roundRect">
            <a:avLst/>
          </a:prstGeom>
          <a:solidFill>
            <a:srgbClr val="2C3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53712" y="4910328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4818888"/>
            <a:ext cx="576072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600" b="1" i="0">
                <a:solidFill>
                  <a:srgbClr val="1E2A52"/>
                </a:solidFill>
                <a:latin typeface="PingFang SC"/>
                <a:ea typeface="PingFang SC"/>
              </a:rPr>
              <a:t>问题 3  ·  窗口注意力计算冗余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5276088"/>
            <a:ext cx="580644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66E82"/>
                </a:solidFill>
                <a:latin typeface="PingFang SC"/>
                <a:ea typeface="PingFang SC"/>
              </a:rPr>
              <a:t>平滑区域低信息密度 Token 全参与，O(N²) 复杂度存在大量冗余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6035040"/>
            <a:ext cx="69494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250" b="1" i="0">
                <a:solidFill>
                  <a:srgbClr val="2C3E74"/>
                </a:solidFill>
                <a:latin typeface="PingFang SC"/>
                <a:ea typeface="PingFang SC"/>
              </a:rPr>
              <a:t>对应三创新点：MFA 频域感知 → SSDPS 双路径扫描 → DSTA 高效 Token 聚合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900" b="0" i="0">
                <a:solidFill>
                  <a:srgbClr val="666E82"/>
                </a:solidFill>
                <a:latin typeface="PingFang SC"/>
                <a:ea typeface="PingFang SC"/>
              </a:rPr>
              <a:t>基于频域增强与状态空间模型的图像恢复方法研究  ·  硕士研究生论文中期进展报告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r"/>
            <a:r>
              <a:rPr sz="1000" b="1" i="0">
                <a:solidFill>
                  <a:srgbClr val="1E8A8C"/>
                </a:solidFill>
                <a:latin typeface="PingFang SC"/>
                <a:ea typeface="PingFang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09728" cy="786384"/>
          </a:xfrm>
          <a:prstGeom prst="rect">
            <a:avLst/>
          </a:prstGeom>
          <a:solidFill>
            <a:srgbClr val="1E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30352"/>
            <a:ext cx="106070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300" b="1" i="0">
                <a:solidFill>
                  <a:srgbClr val="1E8A8C"/>
                </a:solidFill>
                <a:latin typeface="PingFang SC"/>
                <a:ea typeface="PingFang SC"/>
              </a:rPr>
              <a:t>04  课题二 · 创新方案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22960"/>
            <a:ext cx="1078992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2700" b="1" i="0">
                <a:solidFill>
                  <a:srgbClr val="1E2A52"/>
                </a:solidFill>
                <a:latin typeface="PingFang SC"/>
                <a:ea typeface="PingFang SC"/>
              </a:rPr>
              <a:t>三个创新点：MFA / SSDPS / DSTA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52760" cy="18288"/>
          </a:xfrm>
          <a:prstGeom prst="rect">
            <a:avLst/>
          </a:prstGeom>
          <a:solidFill>
            <a:srgbClr val="D3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352044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8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60" y="1783080"/>
            <a:ext cx="3520440" cy="822960"/>
          </a:xfrm>
          <a:prstGeom prst="roundRect">
            <a:avLst/>
          </a:prstGeom>
          <a:solidFill>
            <a:srgbClr val="1E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2286000"/>
            <a:ext cx="3520440" cy="320040"/>
          </a:xfrm>
          <a:prstGeom prst="rect">
            <a:avLst/>
          </a:prstGeom>
          <a:solidFill>
            <a:srgbClr val="1E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1874519"/>
            <a:ext cx="2971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PingFang SC"/>
                <a:ea typeface="PingFang SC"/>
              </a:rPr>
              <a:t>创新点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121408"/>
            <a:ext cx="297180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PingFang SC"/>
                <a:ea typeface="PingFang SC"/>
              </a:rPr>
              <a:t>MFA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743200"/>
            <a:ext cx="2971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250" b="1" i="0">
                <a:solidFill>
                  <a:srgbClr val="1E8A8C"/>
                </a:solidFill>
                <a:latin typeface="PingFang SC"/>
                <a:ea typeface="PingFang SC"/>
              </a:rPr>
              <a:t>多尺度频域感知增强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200400"/>
            <a:ext cx="301752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A1F36"/>
                </a:solidFill>
                <a:latin typeface="PingFang SC"/>
                <a:ea typeface="PingFang SC"/>
              </a:rPr>
              <a:t>· Haar 小波 DWT 3 级分解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67328"/>
            <a:ext cx="301752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A1F36"/>
                </a:solidFill>
                <a:latin typeface="PingFang SC"/>
                <a:ea typeface="PingFang SC"/>
              </a:rPr>
              <a:t>· CascadedFSG 级联融合门(7→9→11)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334256"/>
            <a:ext cx="301752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A1F36"/>
                </a:solidFill>
                <a:latin typeface="PingFang SC"/>
                <a:ea typeface="PingFang SC"/>
              </a:rPr>
              <a:t>· freq_deploy_ratio=0.75 居中部署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4937760"/>
            <a:ext cx="2971800" cy="566928"/>
          </a:xfrm>
          <a:prstGeom prst="roundRect">
            <a:avLst/>
          </a:prstGeom>
          <a:solidFill>
            <a:srgbClr val="D6ECEC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4937760"/>
            <a:ext cx="297180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1350" b="1" i="0">
                <a:solidFill>
                  <a:srgbClr val="1E2A52"/>
                </a:solidFill>
                <a:latin typeface="PingFang SC"/>
                <a:ea typeface="PingFang SC"/>
              </a:rPr>
              <a:t>+0.023 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577840"/>
            <a:ext cx="29718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050" b="0" i="0">
                <a:solidFill>
                  <a:srgbClr val="666E82"/>
                </a:solidFill>
                <a:latin typeface="PingFang SC"/>
                <a:ea typeface="PingFang SC"/>
              </a:rPr>
              <a:t>状态：已实现并验证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99432" y="1783080"/>
            <a:ext cx="352044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599432" y="1783080"/>
            <a:ext cx="3520440" cy="822960"/>
          </a:xfrm>
          <a:prstGeom prst="roundRect">
            <a:avLst/>
          </a:prstGeom>
          <a:solidFill>
            <a:srgbClr val="2C3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99432" y="2286000"/>
            <a:ext cx="3520440" cy="320040"/>
          </a:xfrm>
          <a:prstGeom prst="rect">
            <a:avLst/>
          </a:prstGeom>
          <a:solidFill>
            <a:srgbClr val="2C3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73752" y="1874519"/>
            <a:ext cx="2971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PingFang SC"/>
                <a:ea typeface="PingFang SC"/>
              </a:rPr>
              <a:t>创新点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3752" y="2121408"/>
            <a:ext cx="297180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PingFang SC"/>
                <a:ea typeface="PingFang SC"/>
              </a:rPr>
              <a:t>SSDPS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3752" y="2743200"/>
            <a:ext cx="2971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250" b="1" i="0">
                <a:solidFill>
                  <a:srgbClr val="2C3E74"/>
                </a:solidFill>
                <a:latin typeface="PingFang SC"/>
                <a:ea typeface="PingFang SC"/>
              </a:rPr>
              <a:t>语义-空间双路径扫描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3752" y="3200400"/>
            <a:ext cx="301752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A1F36"/>
                </a:solidFill>
                <a:latin typeface="PingFang SC"/>
                <a:ea typeface="PingFang SC"/>
              </a:rPr>
              <a:t>· hidden 通道按 50% 分割双路径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73752" y="3767328"/>
            <a:ext cx="301752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A1F36"/>
                </a:solidFill>
                <a:latin typeface="PingFang SC"/>
                <a:ea typeface="PingFang SC"/>
              </a:rPr>
              <a:t>· 语义路径 SGN+ASE / 空间路径光栅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73752" y="4334256"/>
            <a:ext cx="301752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A1F36"/>
                </a:solidFill>
                <a:latin typeface="PingFang SC"/>
                <a:ea typeface="PingFang SC"/>
              </a:rPr>
              <a:t>· 不改 A/B/C/D 矩阵，通道拼接融合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73752" y="4937760"/>
            <a:ext cx="2971800" cy="566928"/>
          </a:xfrm>
          <a:prstGeom prst="roundRect">
            <a:avLst/>
          </a:prstGeom>
          <a:solidFill>
            <a:srgbClr val="D6ECEC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73752" y="4937760"/>
            <a:ext cx="297180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1350" b="1" i="0">
                <a:solidFill>
                  <a:srgbClr val="1E2A52"/>
                </a:solidFill>
                <a:latin typeface="PingFang SC"/>
                <a:ea typeface="PingFang SC"/>
              </a:rPr>
              <a:t>参数增长 ≈ 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73752" y="5577840"/>
            <a:ext cx="29718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050" b="0" i="0">
                <a:solidFill>
                  <a:srgbClr val="666E82"/>
                </a:solidFill>
                <a:latin typeface="PingFang SC"/>
                <a:ea typeface="PingFang SC"/>
              </a:rPr>
              <a:t>状态：验证推进中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75904" y="1783080"/>
            <a:ext cx="352044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8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375904" y="1783080"/>
            <a:ext cx="3520440" cy="822960"/>
          </a:xfrm>
          <a:prstGeom prst="round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375904" y="2286000"/>
            <a:ext cx="3520440" cy="320040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50224" y="1874519"/>
            <a:ext cx="2971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PingFang SC"/>
                <a:ea typeface="PingFang SC"/>
              </a:rPr>
              <a:t>创新点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50224" y="2121408"/>
            <a:ext cx="297180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PingFang SC"/>
                <a:ea typeface="PingFang SC"/>
              </a:rPr>
              <a:t>DSTA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50224" y="2743200"/>
            <a:ext cx="2971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250" b="1" i="0">
                <a:solidFill>
                  <a:srgbClr val="E08A2B"/>
                </a:solidFill>
                <a:latin typeface="PingFang SC"/>
                <a:ea typeface="PingFang SC"/>
              </a:rPr>
              <a:t>密度驱动选择性Token聚合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50224" y="3200400"/>
            <a:ext cx="301752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A1F36"/>
                </a:solidFill>
                <a:latin typeface="PingFang SC"/>
                <a:ea typeface="PingFang SC"/>
              </a:rPr>
              <a:t>· 轻量 MLP 评估 Token 信息密度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50224" y="3767328"/>
            <a:ext cx="301752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A1F36"/>
                </a:solidFill>
                <a:latin typeface="PingFang SC"/>
                <a:ea typeface="PingFang SC"/>
              </a:rPr>
              <a:t>· Top-K 保留 + 空间分组聚合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50224" y="4334256"/>
            <a:ext cx="301752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A1F36"/>
                </a:solidFill>
                <a:latin typeface="PingFang SC"/>
                <a:ea typeface="PingFang SC"/>
              </a:rPr>
              <a:t>· Drop-in 替换窗口注意力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50224" y="4937760"/>
            <a:ext cx="2971800" cy="566928"/>
          </a:xfrm>
          <a:prstGeom prst="roundRect">
            <a:avLst/>
          </a:prstGeom>
          <a:solidFill>
            <a:srgbClr val="D6ECEC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650224" y="4937760"/>
            <a:ext cx="2971800" cy="56692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1350" b="1" i="0">
                <a:solidFill>
                  <a:srgbClr val="1E2A52"/>
                </a:solidFill>
                <a:latin typeface="PingFang SC"/>
                <a:ea typeface="PingFang SC"/>
              </a:rPr>
              <a:t>省 ≈ 37.5% 计算量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50224" y="5577840"/>
            <a:ext cx="29718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ctr"/>
            <a:r>
              <a:rPr sz="1050" b="0" i="0">
                <a:solidFill>
                  <a:srgbClr val="666E82"/>
                </a:solidFill>
                <a:latin typeface="PingFang SC"/>
                <a:ea typeface="PingFang SC"/>
              </a:rPr>
              <a:t>状态：已实现并验证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900" b="0" i="0">
                <a:solidFill>
                  <a:srgbClr val="666E82"/>
                </a:solidFill>
                <a:latin typeface="PingFang SC"/>
                <a:ea typeface="PingFang SC"/>
              </a:rPr>
              <a:t>基于频域增强与状态空间模型的图像恢复方法研究  ·  硕士研究生论文中期进展报告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r"/>
            <a:r>
              <a:rPr sz="1000" b="1" i="0">
                <a:solidFill>
                  <a:srgbClr val="1E8A8C"/>
                </a:solidFill>
                <a:latin typeface="PingFang SC"/>
                <a:ea typeface="PingFang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09728" cy="786384"/>
          </a:xfrm>
          <a:prstGeom prst="rect">
            <a:avLst/>
          </a:prstGeom>
          <a:solidFill>
            <a:srgbClr val="1E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30352"/>
            <a:ext cx="106070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300" b="1" i="0">
                <a:solidFill>
                  <a:srgbClr val="1E8A8C"/>
                </a:solidFill>
                <a:latin typeface="PingFang SC"/>
                <a:ea typeface="PingFang SC"/>
              </a:rPr>
              <a:t>04  课题二 · 消融实验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22960"/>
            <a:ext cx="1078992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2700" b="1" i="0">
                <a:solidFill>
                  <a:srgbClr val="1E2A52"/>
                </a:solidFill>
                <a:latin typeface="PingFang SC"/>
                <a:ea typeface="PingFang SC"/>
              </a:rPr>
              <a:t>MambaIRv2 ×4 超分消融（Set14 · PSNR）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52760" cy="18288"/>
          </a:xfrm>
          <a:prstGeom prst="rect">
            <a:avLst/>
          </a:prstGeom>
          <a:solidFill>
            <a:srgbClr val="D3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10561319" cy="502920"/>
          </a:xfrm>
          <a:prstGeom prst="rect">
            <a:avLst/>
          </a:prstGeom>
          <a:solidFill>
            <a:srgbClr val="2C3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828800"/>
            <a:ext cx="420624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ingFang SC"/>
                <a:ea typeface="PingFang SC"/>
              </a:rPr>
              <a:t>实验配置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38928" y="1828800"/>
            <a:ext cx="196596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ingFang SC"/>
                <a:ea typeface="PingFang SC"/>
              </a:rPr>
              <a:t>PSNR(dB)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4888" y="1828800"/>
            <a:ext cx="17830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ingFang SC"/>
                <a:ea typeface="PingFang SC"/>
              </a:rPr>
              <a:t>相对提升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7" y="1828800"/>
            <a:ext cx="260604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ingFang SC"/>
                <a:ea typeface="PingFang SC"/>
              </a:rPr>
              <a:t>关键机制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331720"/>
            <a:ext cx="1056131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331720"/>
            <a:ext cx="420624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300" b="0" i="0">
                <a:solidFill>
                  <a:srgbClr val="1E2A52"/>
                </a:solidFill>
                <a:latin typeface="PingFang SC"/>
                <a:ea typeface="PingFang SC"/>
              </a:rPr>
              <a:t>Baseline (MambaIRv2)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331720"/>
            <a:ext cx="196596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1350" b="1" i="0">
                <a:solidFill>
                  <a:srgbClr val="1A1F36"/>
                </a:solidFill>
                <a:latin typeface="PingFang SC"/>
                <a:ea typeface="PingFang SC"/>
              </a:rPr>
              <a:t>28.840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2331720"/>
            <a:ext cx="178308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1300" b="1" i="0">
                <a:solidFill>
                  <a:srgbClr val="666E82"/>
                </a:solidFill>
                <a:latin typeface="PingFang SC"/>
                <a:ea typeface="PingFang SC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331720"/>
            <a:ext cx="260604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100" b="0" i="0">
                <a:solidFill>
                  <a:srgbClr val="666E82"/>
                </a:solidFill>
                <a:latin typeface="PingFang SC"/>
                <a:ea typeface="PingFang SC"/>
              </a:rPr>
              <a:t>基线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2990087"/>
            <a:ext cx="10561319" cy="658368"/>
          </a:xfrm>
          <a:prstGeom prst="rect">
            <a:avLst/>
          </a:prstGeom>
          <a:solidFill>
            <a:srgbClr val="E8EEF7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2990087"/>
            <a:ext cx="420624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300" b="0" i="0">
                <a:solidFill>
                  <a:srgbClr val="1E2A52"/>
                </a:solidFill>
                <a:latin typeface="PingFang SC"/>
                <a:ea typeface="PingFang SC"/>
              </a:rPr>
              <a:t>+ MFA（创新点 1）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990087"/>
            <a:ext cx="196596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1350" b="1" i="0">
                <a:solidFill>
                  <a:srgbClr val="1A1F36"/>
                </a:solidFill>
                <a:latin typeface="PingFang SC"/>
                <a:ea typeface="PingFang SC"/>
              </a:rPr>
              <a:t>28.863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2990087"/>
            <a:ext cx="178308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1300" b="1" i="0">
                <a:solidFill>
                  <a:srgbClr val="2E8B57"/>
                </a:solidFill>
                <a:latin typeface="PingFang SC"/>
                <a:ea typeface="PingFang SC"/>
              </a:rPr>
              <a:t>+0.023 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990087"/>
            <a:ext cx="260604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100" b="0" i="0">
                <a:solidFill>
                  <a:srgbClr val="666E82"/>
                </a:solidFill>
                <a:latin typeface="PingFang SC"/>
                <a:ea typeface="PingFang SC"/>
              </a:rPr>
              <a:t>Haar DWT 3级 + 级联融合门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648456"/>
            <a:ext cx="10561319" cy="658368"/>
          </a:xfrm>
          <a:prstGeom prst="rect">
            <a:avLst/>
          </a:prstGeom>
          <a:solidFill>
            <a:srgbClr val="D6ECEC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3648456"/>
            <a:ext cx="420624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300" b="1" i="0">
                <a:solidFill>
                  <a:srgbClr val="1E2A52"/>
                </a:solidFill>
                <a:latin typeface="PingFang SC"/>
                <a:ea typeface="PingFang SC"/>
              </a:rPr>
              <a:t>+ MFA + DSTA（1+3）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648456"/>
            <a:ext cx="196596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1500" b="1" i="0">
                <a:solidFill>
                  <a:srgbClr val="1E2A52"/>
                </a:solidFill>
                <a:latin typeface="PingFang SC"/>
                <a:ea typeface="PingFang SC"/>
              </a:rPr>
              <a:t>28.876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3648456"/>
            <a:ext cx="178308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1300" b="1" i="0">
                <a:solidFill>
                  <a:srgbClr val="1E8A8C"/>
                </a:solidFill>
                <a:latin typeface="PingFang SC"/>
                <a:ea typeface="PingFang SC"/>
              </a:rPr>
              <a:t>+0.036 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3648456"/>
            <a:ext cx="260604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100" b="0" i="0">
                <a:solidFill>
                  <a:srgbClr val="666E82"/>
                </a:solidFill>
                <a:latin typeface="PingFang SC"/>
                <a:ea typeface="PingFang SC"/>
              </a:rPr>
              <a:t>频域增强 + 选择性Token聚合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4306824"/>
            <a:ext cx="10561319" cy="658368"/>
          </a:xfrm>
          <a:prstGeom prst="rect">
            <a:avLst/>
          </a:prstGeom>
          <a:solidFill>
            <a:srgbClr val="E8EEF7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4306824"/>
            <a:ext cx="420624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300" b="0" i="0">
                <a:solidFill>
                  <a:srgbClr val="1E2A52"/>
                </a:solidFill>
                <a:latin typeface="PingFang SC"/>
                <a:ea typeface="PingFang SC"/>
              </a:rPr>
              <a:t>+ MFA + SSDPS + DSTA（全部）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4306824"/>
            <a:ext cx="196596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1350" b="1" i="0">
                <a:solidFill>
                  <a:srgbClr val="1A1F36"/>
                </a:solidFill>
                <a:latin typeface="PingFang SC"/>
                <a:ea typeface="PingFang SC"/>
              </a:rPr>
              <a:t>预期 &gt;28.90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4306824"/>
            <a:ext cx="178308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1300" b="1" i="0">
                <a:solidFill>
                  <a:srgbClr val="E08A2B"/>
                </a:solidFill>
                <a:latin typeface="PingFang SC"/>
                <a:ea typeface="PingFang SC"/>
              </a:rPr>
              <a:t>推进中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4306824"/>
            <a:ext cx="2606040" cy="6583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100" b="0" i="0">
                <a:solidFill>
                  <a:srgbClr val="666E82"/>
                </a:solidFill>
                <a:latin typeface="PingFang SC"/>
                <a:ea typeface="PingFang SC"/>
              </a:rPr>
              <a:t>SSDPS 双路径验证中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892040"/>
            <a:ext cx="10607040" cy="137160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2C3E74"/>
                </a:solidFill>
                <a:latin typeface="PingFang SC"/>
                <a:ea typeface="PingFang SC"/>
              </a:rPr>
              <a:t>关键结论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>
                <a:solidFill>
                  <a:srgbClr val="1A1F36"/>
                </a:solidFill>
                <a:latin typeface="PingFang SC"/>
                <a:ea typeface="PingFang SC"/>
              </a:rPr>
              <a:t>· 超分 PSNR 敏感度低，成熟方法改进多在 0.01~0.05 dB 区间，MFA +0.023 dB 已属有效；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>
                <a:solidFill>
                  <a:srgbClr val="1A1F36"/>
                </a:solidFill>
                <a:latin typeface="PingFang SC"/>
                <a:ea typeface="PingFang SC"/>
              </a:rPr>
              <a:t>· DSTA 在减少约 37.5% 注意力计算量的同时仍带来正向提升，兼顾效率与性能；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A1F36"/>
                </a:solidFill>
                <a:latin typeface="PingFang SC"/>
                <a:ea typeface="PingFang SC"/>
              </a:rPr>
              <a:t>· SSDPS 不改 SSM 内部矩阵、参数增长约 0%，三创新点全集成验证推进中，预期突破 28.90 dB。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900" b="0" i="0">
                <a:solidFill>
                  <a:srgbClr val="666E82"/>
                </a:solidFill>
                <a:latin typeface="PingFang SC"/>
                <a:ea typeface="PingFang SC"/>
              </a:rPr>
              <a:t>基于频域增强与状态空间模型的图像恢复方法研究  ·  硕士研究生论文中期进展报告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r"/>
            <a:r>
              <a:rPr sz="1000" b="1" i="0">
                <a:solidFill>
                  <a:srgbClr val="1E8A8C"/>
                </a:solidFill>
                <a:latin typeface="PingFang SC"/>
                <a:ea typeface="PingFang S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09728" cy="786384"/>
          </a:xfrm>
          <a:prstGeom prst="rect">
            <a:avLst/>
          </a:prstGeom>
          <a:solidFill>
            <a:srgbClr val="1E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30352"/>
            <a:ext cx="106070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300" b="1" i="0">
                <a:solidFill>
                  <a:srgbClr val="1E8A8C"/>
                </a:solidFill>
                <a:latin typeface="PingFang SC"/>
                <a:ea typeface="PingFang SC"/>
              </a:rPr>
              <a:t>05  工程实践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22960"/>
            <a:ext cx="1078992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2700" b="1" i="0">
                <a:solidFill>
                  <a:srgbClr val="1E2A52"/>
                </a:solidFill>
                <a:latin typeface="PingFang SC"/>
                <a:ea typeface="PingFang SC"/>
              </a:rPr>
              <a:t>基础设施建设与训练环境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52760" cy="18288"/>
          </a:xfrm>
          <a:prstGeom prst="rect">
            <a:avLst/>
          </a:prstGeom>
          <a:solidFill>
            <a:srgbClr val="D3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5120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1783080"/>
            <a:ext cx="128016" cy="1920240"/>
          </a:xfrm>
          <a:prstGeom prst="rect">
            <a:avLst/>
          </a:prstGeom>
          <a:solidFill>
            <a:srgbClr val="1E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43000" y="2103120"/>
            <a:ext cx="457200" cy="457200"/>
          </a:xfrm>
          <a:prstGeom prst="roundRect">
            <a:avLst/>
          </a:prstGeom>
          <a:solidFill>
            <a:srgbClr val="1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2103120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103120"/>
            <a:ext cx="39319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600" b="1" i="0">
                <a:solidFill>
                  <a:srgbClr val="1E2A52"/>
                </a:solidFill>
                <a:latin typeface="PingFang SC"/>
                <a:ea typeface="PingFang SC"/>
              </a:rPr>
              <a:t>分布式训练环境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651760"/>
            <a:ext cx="393192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A1F36"/>
                </a:solidFill>
                <a:latin typeface="PingFang SC"/>
                <a:ea typeface="PingFang SC"/>
              </a:rPr>
              <a:t>课题一 4×NVIDIA H20（141GB/卡）DDP + 2×RTX 3090 辅助；AdamW + Cosine 调度，配合渐进式 warmup。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83080"/>
            <a:ext cx="5120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783080"/>
            <a:ext cx="128016" cy="1920240"/>
          </a:xfrm>
          <a:prstGeom prst="rect">
            <a:avLst/>
          </a:prstGeom>
          <a:solidFill>
            <a:srgbClr val="2C3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83679" y="2103120"/>
            <a:ext cx="457200" cy="457200"/>
          </a:xfrm>
          <a:prstGeom prst="roundRect">
            <a:avLst/>
          </a:prstGeom>
          <a:solidFill>
            <a:srgbClr val="1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79" y="2103120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59" y="2103120"/>
            <a:ext cx="39319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600" b="1" i="0">
                <a:solidFill>
                  <a:srgbClr val="1E2A52"/>
                </a:solidFill>
                <a:latin typeface="PingFang SC"/>
                <a:ea typeface="PingFang SC"/>
              </a:rPr>
              <a:t>DDP 训练实践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59" y="2651760"/>
            <a:ext cx="393192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A1F36"/>
                </a:solidFill>
                <a:latin typeface="PingFang SC"/>
                <a:ea typeface="PingFang SC"/>
              </a:rPr>
              <a:t>find_unused_parameters=True 避免同步报错；首训 RESUME=False；sqrt 缩放学习率保障稳定收敛。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977639"/>
            <a:ext cx="5120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" y="3977639"/>
            <a:ext cx="128016" cy="1920240"/>
          </a:xfrm>
          <a:prstGeom prst="rect">
            <a:avLst/>
          </a:prstGeom>
          <a:solidFill>
            <a:srgbClr val="1E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143000" y="4297679"/>
            <a:ext cx="457200" cy="457200"/>
          </a:xfrm>
          <a:prstGeom prst="roundRect">
            <a:avLst/>
          </a:prstGeom>
          <a:solidFill>
            <a:srgbClr val="1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43000" y="4297679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297679"/>
            <a:ext cx="39319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600" b="1" i="0">
                <a:solidFill>
                  <a:srgbClr val="1E2A52"/>
                </a:solidFill>
                <a:latin typeface="PingFang SC"/>
                <a:ea typeface="PingFang SC"/>
              </a:rPr>
              <a:t>一体化测评框架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4846320"/>
            <a:ext cx="393192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A1F36"/>
                </a:solidFill>
                <a:latin typeface="PingFang SC"/>
                <a:ea typeface="PingFang SC"/>
              </a:rPr>
              <a:t>test_and_evaluate + evaluate_y_channel；RGB→YCbCr、Y 通道 PSNR/SSIM，与 Matlab 交叉验证误差&lt;0.01dB。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977639"/>
            <a:ext cx="5120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63640" y="3977639"/>
            <a:ext cx="128016" cy="1920240"/>
          </a:xfrm>
          <a:prstGeom prst="rect">
            <a:avLst/>
          </a:prstGeom>
          <a:solidFill>
            <a:srgbClr val="2C3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583679" y="4297679"/>
            <a:ext cx="457200" cy="457200"/>
          </a:xfrm>
          <a:prstGeom prst="roundRect">
            <a:avLst/>
          </a:prstGeom>
          <a:solidFill>
            <a:srgbClr val="1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79" y="4297679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59" y="4297679"/>
            <a:ext cx="39319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600" b="1" i="0">
                <a:solidFill>
                  <a:srgbClr val="1E2A52"/>
                </a:solidFill>
                <a:latin typeface="PingFang SC"/>
                <a:ea typeface="PingFang SC"/>
              </a:rPr>
              <a:t>消融实验管理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59" y="4846320"/>
            <a:ext cx="393192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A1F36"/>
                </a:solidFill>
                <a:latin typeface="PingFang SC"/>
                <a:ea typeface="PingFang SC"/>
              </a:rPr>
              <a:t>递进式 exp1/exp2/exp3 框架，独立 SwanLab 名称、输出目录与 checkpoint，贡献可独立量化、结果可复现。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900" b="0" i="0">
                <a:solidFill>
                  <a:srgbClr val="666E82"/>
                </a:solidFill>
                <a:latin typeface="PingFang SC"/>
                <a:ea typeface="PingFang SC"/>
              </a:rPr>
              <a:t>基于频域增强与状态空间模型的图像恢复方法研究  ·  硕士研究生论文中期进展报告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r"/>
            <a:r>
              <a:rPr sz="1000" b="1" i="0">
                <a:solidFill>
                  <a:srgbClr val="1E8A8C"/>
                </a:solidFill>
                <a:latin typeface="PingFang SC"/>
                <a:ea typeface="PingFang S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09728" cy="786384"/>
          </a:xfrm>
          <a:prstGeom prst="rect">
            <a:avLst/>
          </a:prstGeom>
          <a:solidFill>
            <a:srgbClr val="1E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30352"/>
            <a:ext cx="106070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300" b="1" i="0">
                <a:solidFill>
                  <a:srgbClr val="1E8A8C"/>
                </a:solidFill>
                <a:latin typeface="PingFang SC"/>
                <a:ea typeface="PingFang SC"/>
              </a:rPr>
              <a:t>06  下一步计划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22960"/>
            <a:ext cx="1078992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2700" b="1" i="0">
                <a:solidFill>
                  <a:srgbClr val="1E2A52"/>
                </a:solidFill>
                <a:latin typeface="PingFang SC"/>
                <a:ea typeface="PingFang SC"/>
              </a:rPr>
              <a:t>两课题并行推进时间表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52760" cy="18288"/>
          </a:xfrm>
          <a:prstGeom prst="rect">
            <a:avLst/>
          </a:prstGeom>
          <a:solidFill>
            <a:srgbClr val="D3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10515600" cy="475488"/>
          </a:xfrm>
          <a:prstGeom prst="rect">
            <a:avLst/>
          </a:prstGeom>
          <a:solidFill>
            <a:srgbClr val="1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1828800" cy="4754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ingFang SC"/>
                <a:ea typeface="PingFang SC"/>
              </a:rP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828800"/>
            <a:ext cx="4343400" cy="4754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ingFang SC"/>
                <a:ea typeface="PingFang SC"/>
              </a:rPr>
              <a:t>课题一 · 图像去雨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828800"/>
            <a:ext cx="4343400" cy="4754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ingFang SC"/>
                <a:ea typeface="PingFang SC"/>
              </a:rPr>
              <a:t>课题二 · 图像超分辨率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304288"/>
            <a:ext cx="105156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2304288"/>
            <a:ext cx="1828800" cy="603504"/>
          </a:xfrm>
          <a:prstGeom prst="rect">
            <a:avLst/>
          </a:prstGeom>
          <a:solidFill>
            <a:srgbClr val="2C3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304288"/>
            <a:ext cx="1828800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PingFang SC"/>
                <a:ea typeface="PingFang SC"/>
              </a:rPr>
              <a:t>7 月上旬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304288"/>
            <a:ext cx="4069080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PingFang SC"/>
                <a:ea typeface="PingFang SC"/>
              </a:rPr>
              <a:t>exp3 三创新点集成，确认 41.93 dB 结果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304288"/>
            <a:ext cx="4069080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PingFang SC"/>
                <a:ea typeface="PingFang SC"/>
              </a:rPr>
              <a:t>完成 SSDPS 消融验证（课题二最后一环）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2907792"/>
            <a:ext cx="10515600" cy="603504"/>
          </a:xfrm>
          <a:prstGeom prst="rect">
            <a:avLst/>
          </a:prstGeom>
          <a:solidFill>
            <a:srgbClr val="F7F8FB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" y="2907792"/>
            <a:ext cx="1828800" cy="603504"/>
          </a:xfrm>
          <a:prstGeom prst="rect">
            <a:avLst/>
          </a:prstGeom>
          <a:solidFill>
            <a:srgbClr val="1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2907792"/>
            <a:ext cx="1828800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PingFang SC"/>
                <a:ea typeface="PingFang SC"/>
              </a:rPr>
              <a:t>7 月中-下旬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2907792"/>
            <a:ext cx="4069080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PingFang SC"/>
                <a:ea typeface="PingFang SC"/>
              </a:rPr>
              <a:t>Rain200H、SPA-Data 等多数据集泛化验证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907792"/>
            <a:ext cx="4069080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PingFang SC"/>
                <a:ea typeface="PingFang SC"/>
              </a:rPr>
              <a:t>三创新点全集成，冲击 &gt;28.90 dB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3511296"/>
            <a:ext cx="105156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" y="3511296"/>
            <a:ext cx="1828800" cy="603504"/>
          </a:xfrm>
          <a:prstGeom prst="rect">
            <a:avLst/>
          </a:prstGeom>
          <a:solidFill>
            <a:srgbClr val="2C3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3511296"/>
            <a:ext cx="1828800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PingFang SC"/>
                <a:ea typeface="PingFang SC"/>
              </a:rPr>
              <a:t>8 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3511296"/>
            <a:ext cx="4069080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PingFang SC"/>
                <a:ea typeface="PingFang SC"/>
              </a:rPr>
              <a:t>与 Restormer/DRSformer 等 SOTA 全面对比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511296"/>
            <a:ext cx="4069080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PingFang SC"/>
                <a:ea typeface="PingFang SC"/>
              </a:rPr>
              <a:t>×2/×3/×4 多任务与 SOTA 对比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114800"/>
            <a:ext cx="10515600" cy="603504"/>
          </a:xfrm>
          <a:prstGeom prst="rect">
            <a:avLst/>
          </a:prstGeom>
          <a:solidFill>
            <a:srgbClr val="F7F8FB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2960" y="4114800"/>
            <a:ext cx="1828800" cy="603504"/>
          </a:xfrm>
          <a:prstGeom prst="rect">
            <a:avLst/>
          </a:prstGeom>
          <a:solidFill>
            <a:srgbClr val="1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4114800"/>
            <a:ext cx="1828800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PingFang SC"/>
                <a:ea typeface="PingFang SC"/>
              </a:rPr>
              <a:t>9 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8920" y="4114800"/>
            <a:ext cx="4069080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r>
              <a:rPr lang="zh-CN" altLang="en-US" sz="1200" dirty="0">
                <a:solidFill>
                  <a:srgbClr val="1A1F36"/>
                </a:solidFill>
                <a:latin typeface="PingFang SC"/>
                <a:ea typeface="PingFang SC"/>
              </a:rPr>
              <a:t>消融补全与可视化分析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4114800"/>
            <a:ext cx="4069080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200" b="0" i="0" dirty="0" err="1">
                <a:solidFill>
                  <a:srgbClr val="1A1F36"/>
                </a:solidFill>
                <a:latin typeface="PingFang SC"/>
                <a:ea typeface="PingFang SC"/>
              </a:rPr>
              <a:t>消融补全与可视化分析</a:t>
            </a:r>
            <a:endParaRPr sz="1200" b="0" i="0" dirty="0">
              <a:solidFill>
                <a:srgbClr val="1A1F36"/>
              </a:solidFill>
              <a:latin typeface="PingFang SC"/>
              <a:ea typeface="PingFang SC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22960" y="4718304"/>
            <a:ext cx="105156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22960" y="4718304"/>
            <a:ext cx="1828800" cy="603504"/>
          </a:xfrm>
          <a:prstGeom prst="rect">
            <a:avLst/>
          </a:prstGeom>
          <a:solidFill>
            <a:srgbClr val="2C3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4718304"/>
            <a:ext cx="1828800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PingFang SC"/>
                <a:ea typeface="PingFang SC"/>
              </a:rPr>
              <a:t>10 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88920" y="4718304"/>
            <a:ext cx="4069080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r>
              <a:rPr lang="zh-CN" altLang="en-US" sz="1200" dirty="0">
                <a:solidFill>
                  <a:srgbClr val="1A1F36"/>
                </a:solidFill>
                <a:latin typeface="PingFang SC"/>
                <a:ea typeface="PingFang SC"/>
              </a:rPr>
              <a:t>论文撰写（去雨部分）</a:t>
            </a:r>
            <a:endParaRPr sz="1200" b="0" i="0" dirty="0">
              <a:solidFill>
                <a:srgbClr val="1A1F36"/>
              </a:solidFill>
              <a:latin typeface="PingFang SC"/>
              <a:ea typeface="PingFang SC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132320" y="4718304"/>
            <a:ext cx="4069080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PingFang SC"/>
                <a:ea typeface="PingFang SC"/>
              </a:rPr>
              <a:t>论文撰写（超分部分）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5321808"/>
            <a:ext cx="10515600" cy="603504"/>
          </a:xfrm>
          <a:prstGeom prst="rect">
            <a:avLst/>
          </a:prstGeom>
          <a:solidFill>
            <a:srgbClr val="F7F8FB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22960" y="5321808"/>
            <a:ext cx="1828800" cy="603504"/>
          </a:xfrm>
          <a:prstGeom prst="rect">
            <a:avLst/>
          </a:prstGeom>
          <a:solidFill>
            <a:srgbClr val="1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5321808"/>
            <a:ext cx="1828800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PingFang SC"/>
                <a:ea typeface="PingFang SC"/>
              </a:rPr>
              <a:t>11-12 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88920" y="5321808"/>
            <a:ext cx="4069080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l"/>
            <a:r>
              <a:rPr sz="1200" b="0" i="0" dirty="0" err="1">
                <a:solidFill>
                  <a:srgbClr val="1A1F36"/>
                </a:solidFill>
                <a:latin typeface="PingFang SC"/>
                <a:ea typeface="PingFang SC"/>
              </a:rPr>
              <a:t>论文修改与完善</a:t>
            </a:r>
            <a:endParaRPr sz="1200" b="0" i="0" dirty="0">
              <a:solidFill>
                <a:srgbClr val="1A1F36"/>
              </a:solidFill>
              <a:latin typeface="PingFang SC"/>
              <a:ea typeface="PingFang SC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132320" y="5321808"/>
            <a:ext cx="4069080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r>
              <a:rPr lang="zh-CN" altLang="en-US" sz="1200" dirty="0">
                <a:solidFill>
                  <a:srgbClr val="1A1F36"/>
                </a:solidFill>
                <a:latin typeface="PingFang SC"/>
                <a:ea typeface="PingFang SC"/>
              </a:rPr>
              <a:t>论文修改与完善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250" b="1" i="0" dirty="0" err="1">
                <a:solidFill>
                  <a:srgbClr val="1E8A8C"/>
                </a:solidFill>
                <a:latin typeface="PingFang SC"/>
                <a:ea typeface="PingFang SC"/>
              </a:rPr>
              <a:t>近期重点：完成</a:t>
            </a:r>
            <a:r>
              <a:rPr sz="1250" b="1" i="0" dirty="0">
                <a:solidFill>
                  <a:srgbClr val="1E8A8C"/>
                </a:solidFill>
                <a:latin typeface="PingFang SC"/>
                <a:ea typeface="PingFang SC"/>
              </a:rPr>
              <a:t> SSDPS </a:t>
            </a:r>
            <a:r>
              <a:rPr sz="1250" b="1" i="0" dirty="0" err="1">
                <a:solidFill>
                  <a:srgbClr val="1E8A8C"/>
                </a:solidFill>
                <a:latin typeface="PingFang SC"/>
                <a:ea typeface="PingFang SC"/>
              </a:rPr>
              <a:t>消融（课题二收尾</a:t>
            </a:r>
            <a:r>
              <a:rPr sz="1250" b="1" i="0" dirty="0">
                <a:solidFill>
                  <a:srgbClr val="1E8A8C"/>
                </a:solidFill>
                <a:latin typeface="PingFang SC"/>
                <a:ea typeface="PingFang SC"/>
              </a:rPr>
              <a:t>）+ </a:t>
            </a:r>
            <a:r>
              <a:rPr sz="1250" b="1" i="0" dirty="0" err="1">
                <a:solidFill>
                  <a:srgbClr val="1E8A8C"/>
                </a:solidFill>
                <a:latin typeface="PingFang SC"/>
                <a:ea typeface="PingFang SC"/>
              </a:rPr>
              <a:t>课题一多数据集泛化</a:t>
            </a:r>
            <a:r>
              <a:rPr sz="1250" b="1" i="0" dirty="0">
                <a:solidFill>
                  <a:srgbClr val="1E8A8C"/>
                </a:solidFill>
                <a:latin typeface="PingFang SC"/>
                <a:ea typeface="PingFang SC"/>
              </a:rPr>
              <a:t> → </a:t>
            </a:r>
            <a:r>
              <a:rPr lang="zh-CN" altLang="en-US" sz="1250" b="1" i="0" dirty="0">
                <a:solidFill>
                  <a:srgbClr val="1E8A8C"/>
                </a:solidFill>
                <a:latin typeface="PingFang SC"/>
                <a:ea typeface="PingFang SC"/>
              </a:rPr>
              <a:t>论文撰写</a:t>
            </a:r>
            <a:endParaRPr sz="1250" b="1" i="0" dirty="0">
              <a:solidFill>
                <a:srgbClr val="1E8A8C"/>
              </a:solidFill>
              <a:latin typeface="PingFang SC"/>
              <a:ea typeface="PingFang SC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900" b="0" i="0">
                <a:solidFill>
                  <a:srgbClr val="666E82"/>
                </a:solidFill>
                <a:latin typeface="PingFang SC"/>
                <a:ea typeface="PingFang SC"/>
              </a:rPr>
              <a:t>基于频域增强与状态空间模型的图像恢复方法研究  ·  硕士研究生论文中期进展报告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r"/>
            <a:r>
              <a:rPr sz="1000" b="1" i="0">
                <a:solidFill>
                  <a:srgbClr val="1E8A8C"/>
                </a:solidFill>
                <a:latin typeface="PingFang SC"/>
                <a:ea typeface="PingFang S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09728" cy="786384"/>
          </a:xfrm>
          <a:prstGeom prst="rect">
            <a:avLst/>
          </a:prstGeom>
          <a:solidFill>
            <a:srgbClr val="1E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30352"/>
            <a:ext cx="106070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300" b="1" i="0">
                <a:solidFill>
                  <a:srgbClr val="1E8A8C"/>
                </a:solidFill>
                <a:latin typeface="PingFang SC"/>
                <a:ea typeface="PingFang SC"/>
              </a:rPr>
              <a:t>06  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22960"/>
            <a:ext cx="1078992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2700" b="1" i="0">
                <a:solidFill>
                  <a:srgbClr val="1E2A52"/>
                </a:solidFill>
                <a:latin typeface="PingFang SC"/>
                <a:ea typeface="PingFang SC"/>
              </a:rPr>
              <a:t>研究贡献与两课题内在联系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52760" cy="18288"/>
          </a:xfrm>
          <a:prstGeom prst="rect">
            <a:avLst/>
          </a:prstGeom>
          <a:solidFill>
            <a:srgbClr val="D3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54864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493776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600" b="1" i="0">
                <a:solidFill>
                  <a:srgbClr val="1E8A8C"/>
                </a:solidFill>
                <a:latin typeface="PingFang SC"/>
                <a:ea typeface="PingFang SC"/>
              </a:rPr>
              <a:t>阶段性研究贡献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23160"/>
            <a:ext cx="5029200" cy="34747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50" b="1">
                <a:solidFill>
                  <a:srgbClr val="1E2A52"/>
                </a:solidFill>
                <a:latin typeface="PingFang SC"/>
                <a:ea typeface="PingFang SC"/>
              </a:rPr>
              <a:t>课题一（已取得实质进展）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A1F36"/>
                </a:solidFill>
                <a:latin typeface="PingFang SC"/>
                <a:ea typeface="PingFang SC"/>
              </a:rPr>
              <a:t>· RFM 频域幅度谱增强，+0.08 dB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A1F36"/>
                </a:solidFill>
                <a:latin typeface="PingFang SC"/>
                <a:ea typeface="PingFang SC"/>
              </a:rPr>
              <a:t>· MFGCP 五方向梯度协同，重参数化零推理开销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A1F36"/>
                </a:solidFill>
                <a:latin typeface="PingFang SC"/>
                <a:ea typeface="PingFang SC"/>
              </a:rPr>
              <a:t>· HAFL 分层频域课程学习，零额外参数 +0.10 dB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50" b="1">
                <a:solidFill>
                  <a:srgbClr val="2E8B57"/>
                </a:solidFill>
                <a:latin typeface="PingFang SC"/>
                <a:ea typeface="PingFang SC"/>
              </a:rPr>
              <a:t>· 全集成 41.93 dB / +0.22 dB（Rain200L）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50" b="1">
                <a:solidFill>
                  <a:srgbClr val="2C3E74"/>
                </a:solidFill>
                <a:latin typeface="PingFang SC"/>
                <a:ea typeface="PingFang SC"/>
              </a:rPr>
              <a:t>课题二（已取得实质进展）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A1F36"/>
                </a:solidFill>
                <a:latin typeface="PingFang SC"/>
                <a:ea typeface="PingFang SC"/>
              </a:rPr>
              <a:t>· MFA 频域感知 +0.023、+DSTA 累计 +0.036 dB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A1F36"/>
                </a:solidFill>
                <a:latin typeface="PingFang SC"/>
                <a:ea typeface="PingFang SC"/>
              </a:rPr>
              <a:t>· SSDPS 双路径扫描（参数≈0%），全集成验证推进中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783080"/>
            <a:ext cx="4754880" cy="4160520"/>
          </a:xfrm>
          <a:prstGeom prst="roundRect">
            <a:avLst/>
          </a:prstGeom>
          <a:solidFill>
            <a:srgbClr val="1E2A52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0" y="1965960"/>
            <a:ext cx="420624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600" b="1" i="0">
                <a:solidFill>
                  <a:srgbClr val="D6ECEC"/>
                </a:solidFill>
                <a:latin typeface="PingFang SC"/>
                <a:ea typeface="PingFang SC"/>
              </a:rPr>
              <a:t>两课题内在联系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468880"/>
            <a:ext cx="420624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PingFang SC"/>
                <a:ea typeface="PingFang SC"/>
              </a:rPr>
              <a:t>共享主线：频域信息在图像恢复中的系统性利用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246120"/>
            <a:ext cx="4251960" cy="2103120"/>
          </a:xfrm>
          <a:prstGeom prst="rect">
            <a:avLst/>
          </a:prstGeom>
          <a:noFill/>
        </p:spPr>
        <p:txBody>
          <a:bodyPr wrap="square" lIns="45720" rIns="45720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50" b="1">
                <a:solidFill>
                  <a:srgbClr val="D6ECEC"/>
                </a:solidFill>
                <a:latin typeface="PingFang SC"/>
                <a:ea typeface="PingFang SC"/>
              </a:rPr>
              <a:t>课题一 → 频域增强方法论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E8EEF7"/>
                </a:solidFill>
                <a:latin typeface="PingFang SC"/>
                <a:ea typeface="PingFang SC"/>
              </a:rPr>
              <a:t>从模型结构（RFM、MFGCP）与训练策略（HAFL）构建全链路框架。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50" b="1">
                <a:solidFill>
                  <a:srgbClr val="D6ECEC"/>
                </a:solidFill>
                <a:latin typeface="PingFang SC"/>
                <a:ea typeface="PingFang SC"/>
              </a:rPr>
              <a:t>课题二 → 高效架构实践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E8EEF7"/>
                </a:solidFill>
                <a:latin typeface="PingFang SC"/>
                <a:ea typeface="PingFang SC"/>
              </a:rPr>
              <a:t>将频域增强经验迁移至 SSM 架构，探索频域与状态空间的高效融合。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5440680"/>
            <a:ext cx="4206240" cy="18288"/>
          </a:xfrm>
          <a:prstGeom prst="rect">
            <a:avLst/>
          </a:prstGeom>
          <a:solidFill>
            <a:srgbClr val="1E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0" y="5559552"/>
            <a:ext cx="420624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250" b="1" i="0">
                <a:solidFill>
                  <a:srgbClr val="E08A2B"/>
                </a:solidFill>
                <a:latin typeface="PingFang SC"/>
                <a:ea typeface="PingFang SC"/>
              </a:rPr>
              <a:t>形成「理论方法 → 架构实践」的完整研究闭环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900" b="0" i="0">
                <a:solidFill>
                  <a:srgbClr val="666E82"/>
                </a:solidFill>
                <a:latin typeface="PingFang SC"/>
                <a:ea typeface="PingFang SC"/>
              </a:rPr>
              <a:t>基于频域增强与状态空间模型的图像恢复方法研究  ·  硕士研究生论文中期进展报告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r"/>
            <a:r>
              <a:rPr sz="1000" b="1" i="0">
                <a:solidFill>
                  <a:srgbClr val="1E8A8C"/>
                </a:solidFill>
                <a:latin typeface="PingFang SC"/>
                <a:ea typeface="PingFang S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778240" y="4754880"/>
            <a:ext cx="3474720" cy="2103120"/>
          </a:xfrm>
          <a:prstGeom prst="rect">
            <a:avLst/>
          </a:prstGeom>
          <a:solidFill>
            <a:srgbClr val="2C3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875520" y="5577840"/>
            <a:ext cx="2377440" cy="1280160"/>
          </a:xfrm>
          <a:prstGeom prst="rect">
            <a:avLst/>
          </a:prstGeom>
          <a:solidFill>
            <a:srgbClr val="1E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960120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PingFang SC"/>
                <a:ea typeface="PingFang SC"/>
              </a:rPr>
              <a:t>恳请各位老师批评指正</a:t>
            </a:r>
          </a:p>
        </p:txBody>
      </p:sp>
      <p:sp>
        <p:nvSpPr>
          <p:cNvPr id="7" name="Rectangle 6"/>
          <p:cNvSpPr/>
          <p:nvPr/>
        </p:nvSpPr>
        <p:spPr>
          <a:xfrm>
            <a:off x="1033271" y="3703320"/>
            <a:ext cx="2377440" cy="36576"/>
          </a:xfrm>
          <a:prstGeom prst="rect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3977639"/>
            <a:ext cx="96012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500" b="0" i="0">
                <a:solidFill>
                  <a:srgbClr val="E8EEF7"/>
                </a:solidFill>
                <a:latin typeface="PingFang SC"/>
                <a:ea typeface="PingFang SC"/>
              </a:rPr>
              <a:t>基于频域增强与状态空间模型的图像恢复方法研究 · 中期进展报告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989320"/>
            <a:ext cx="9601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noAutofit/>
          </a:bodyPr>
          <a:lstStyle/>
          <a:p>
            <a:pPr algn="l"/>
            <a:r>
              <a:rPr sz="1300" b="0" i="0">
                <a:solidFill>
                  <a:srgbClr val="D6ECEC"/>
                </a:solidFill>
                <a:latin typeface="PingFang SC"/>
                <a:ea typeface="PingFang SC"/>
              </a:rPr>
              <a:t>汇报人：[姓名]    指导教师：[导师姓名]    2026 年 7 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1382</Words>
  <Application>Microsoft Macintosh PowerPoint</Application>
  <PresentationFormat>宽屏</PresentationFormat>
  <Paragraphs>345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PingFang SC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西高地</cp:lastModifiedBy>
  <cp:revision>4</cp:revision>
  <dcterms:created xsi:type="dcterms:W3CDTF">2013-01-27T09:14:16Z</dcterms:created>
  <dcterms:modified xsi:type="dcterms:W3CDTF">2026-07-14T01:17:15Z</dcterms:modified>
  <cp:category/>
</cp:coreProperties>
</file>